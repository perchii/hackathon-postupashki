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Maven Pro"/>
      <p:regular r:id="rId25"/>
      <p:bold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unito-regular.fntdata"/><Relationship Id="rId16" Type="http://schemas.openxmlformats.org/officeDocument/2006/relationships/slide" Target="slides/slide10.xml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b3a2f3c2d_17_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fb3a2f3c2d_17_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b3a2f3c2d_17_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b3a2f3c2d_17_46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fb3a2f3c2d_17_46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fb3a2f3c2d_17_46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3a2f3c2d_17_97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fb3a2f3c2d_17_97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fb3a2f3c2d_17_97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b3a2f3c2d_29_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fb3a2f3c2d_29_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b3a2f3c2d_29_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b3a2f3c2d_29_2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fb3a2f3c2d_29_2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b3a2f3c2d_29_2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b3a2f3c2d_29_25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fb3a2f3c2d_29_25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fb3a2f3c2d_29_25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3a2f3c2d_29_9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fb3a2f3c2d_29_9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b3a2f3c2d_29_9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b3a2f3c2d_29_20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fb3a2f3c2d_29_20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fb3a2f3c2d_29_20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b3a2f3c2d_21_36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fb3a2f3c2d_21_36:notes"/>
          <p:cNvSpPr txBox="1"/>
          <p:nvPr>
            <p:ph idx="1" type="body"/>
          </p:nvPr>
        </p:nvSpPr>
        <p:spPr>
          <a:xfrm>
            <a:off x="685800" y="3300500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fb3a2f3c2d_21_36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b3a2f3c2d_29_28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fb3a2f3c2d_29_28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fb3a2f3c2d_29_28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5F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377190" y="246888"/>
            <a:ext cx="82296" cy="82296"/>
          </a:xfrm>
          <a:prstGeom prst="rect">
            <a:avLst/>
          </a:prstGeom>
          <a:solidFill>
            <a:srgbClr val="C51E32"/>
          </a:solidFill>
          <a:ln cap="flat" cmpd="sng" w="12700">
            <a:solidFill>
              <a:srgbClr val="C51E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514350" y="164592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27D"/>
              </a:buClr>
              <a:buSzPts val="700"/>
              <a:buFont typeface="Arial"/>
              <a:buNone/>
            </a:pPr>
            <a:r>
              <a:rPr b="1" i="0" lang="ru" sz="700" u="none" cap="none" strike="noStrike">
                <a:solidFill>
                  <a:srgbClr val="69727D"/>
                </a:solidFill>
                <a:latin typeface="Arial"/>
                <a:ea typeface="Arial"/>
                <a:cs typeface="Arial"/>
                <a:sym typeface="Arial"/>
              </a:rPr>
              <a:t>АНАЛИТИКА ВНЕ SQL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5"/>
          <p:cNvCxnSpPr/>
          <p:nvPr/>
        </p:nvCxnSpPr>
        <p:spPr>
          <a:xfrm>
            <a:off x="377190" y="4828032"/>
            <a:ext cx="8380476" cy="0"/>
          </a:xfrm>
          <a:prstGeom prst="straightConnector1">
            <a:avLst/>
          </a:prstGeom>
          <a:noFill/>
          <a:ln cap="flat" cmpd="sng" w="9525">
            <a:solidFill>
              <a:srgbClr val="D9D6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5"/>
          <p:cNvSpPr/>
          <p:nvPr/>
        </p:nvSpPr>
        <p:spPr>
          <a:xfrm>
            <a:off x="377190" y="4862322"/>
            <a:ext cx="24003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9A"/>
              </a:buClr>
              <a:buSzPts val="600"/>
              <a:buFont typeface="Arial"/>
              <a:buNone/>
            </a:pPr>
            <a:r>
              <a:rPr b="0" i="0" lang="ru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rPr>
              <a:t>Поступашки • hackathon solution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/>
          <p:nvPr>
            <p:ph idx="12" type="sldNum"/>
          </p:nvPr>
        </p:nvSpPr>
        <p:spPr>
          <a:xfrm>
            <a:off x="8462772" y="4841748"/>
            <a:ext cx="3086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 txBox="1"/>
          <p:nvPr>
            <p:ph idx="12" type="sldNum"/>
          </p:nvPr>
        </p:nvSpPr>
        <p:spPr>
          <a:xfrm>
            <a:off x="8462772" y="4841748"/>
            <a:ext cx="3086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B92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/>
          <p:nvPr/>
        </p:nvSpPr>
        <p:spPr>
          <a:xfrm>
            <a:off x="4040551" y="185715"/>
            <a:ext cx="1062900" cy="233100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9525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4109132" y="213147"/>
            <a:ext cx="92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295076" y="1880150"/>
            <a:ext cx="4623900" cy="425100"/>
          </a:xfrm>
          <a:prstGeom prst="rect">
            <a:avLst/>
          </a:prstGeom>
          <a:solidFill>
            <a:srgbClr val="0C0F13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300"/>
              <a:buFont typeface="Inter"/>
              <a:buNone/>
            </a:pPr>
            <a:r>
              <a:rPr b="1" i="0" lang="ru" sz="23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Поступашки: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p17"/>
          <p:cNvSpPr txBox="1"/>
          <p:nvPr/>
        </p:nvSpPr>
        <p:spPr>
          <a:xfrm>
            <a:off x="295053" y="2298300"/>
            <a:ext cx="4623900" cy="877800"/>
          </a:xfrm>
          <a:prstGeom prst="rect">
            <a:avLst/>
          </a:prstGeom>
          <a:solidFill>
            <a:srgbClr val="0C0F13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300"/>
              <a:buFont typeface="Inter"/>
              <a:buNone/>
            </a:pPr>
            <a:r>
              <a:rPr b="1" i="0" lang="ru" sz="23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перестать терять маркетинг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300"/>
              <a:buFont typeface="Inter"/>
              <a:buNone/>
            </a:pPr>
            <a:r>
              <a:rPr b="1" i="0" lang="ru" sz="23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между рекламой и оплатой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5034925" y="1880150"/>
            <a:ext cx="3886500" cy="1296000"/>
          </a:xfrm>
          <a:prstGeom prst="rect">
            <a:avLst/>
          </a:prstGeom>
          <a:solidFill>
            <a:srgbClr val="11161B"/>
          </a:solidFill>
          <a:ln cap="flat" cmpd="sng" w="9525">
            <a:solidFill>
              <a:srgbClr val="727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Inter"/>
              <a:buNone/>
            </a:pPr>
            <a:r>
              <a:t/>
            </a:r>
            <a:endParaRPr sz="1200">
              <a:solidFill>
                <a:srgbClr val="8B92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Inter"/>
              <a:buNone/>
            </a:pPr>
            <a:r>
              <a:t/>
            </a:r>
            <a:endParaRPr sz="1200">
              <a:solidFill>
                <a:srgbClr val="8B929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Inter"/>
              <a:buNone/>
            </a:pPr>
            <a:r>
              <a:rPr b="0" i="0" lang="ru" sz="1200" u="none" cap="none" strike="noStrike">
                <a:solidFill>
                  <a:srgbClr val="8B929A"/>
                </a:solidFill>
                <a:latin typeface="Inter"/>
                <a:ea typeface="Inter"/>
                <a:cs typeface="Inter"/>
                <a:sym typeface="Inter"/>
              </a:rPr>
              <a:t>Восстановили максимум из истории → спроектировали measurement system → собрали end-to-end MVP</a:t>
            </a:r>
            <a:endParaRPr b="0" i="0" sz="1200" u="none" cap="none" strike="noStrike">
              <a:solidFill>
                <a:srgbClr val="8B92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507506" y="3771900"/>
            <a:ext cx="1543200" cy="672000"/>
          </a:xfrm>
          <a:prstGeom prst="roundRect">
            <a:avLst>
              <a:gd fmla="val 12245" name="adj"/>
            </a:avLst>
          </a:prstGeom>
          <a:solidFill>
            <a:srgbClr val="1C222A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617236" y="3840480"/>
            <a:ext cx="1323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800"/>
              <a:buFont typeface="Inter"/>
              <a:buNone/>
            </a:pPr>
            <a:r>
              <a:rPr b="1" i="0" lang="ru" sz="1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1" lang="ru" sz="1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17"/>
          <p:cNvSpPr txBox="1"/>
          <p:nvPr/>
        </p:nvSpPr>
        <p:spPr>
          <a:xfrm>
            <a:off x="617236" y="4162806"/>
            <a:ext cx="1323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lang="ru" sz="7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уникальных покупателей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507506" y="3771900"/>
            <a:ext cx="34200" cy="672000"/>
          </a:xfrm>
          <a:prstGeom prst="roundRect">
            <a:avLst>
              <a:gd fmla="val 40000" name="adj"/>
            </a:avLst>
          </a:prstGeom>
          <a:solidFill>
            <a:srgbClr val="F22D49"/>
          </a:solidFill>
          <a:ln cap="flat" cmpd="sng" w="9525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2153469" y="3771900"/>
            <a:ext cx="1543200" cy="672000"/>
          </a:xfrm>
          <a:prstGeom prst="roundRect">
            <a:avLst>
              <a:gd fmla="val 12245" name="adj"/>
            </a:avLst>
          </a:prstGeom>
          <a:solidFill>
            <a:srgbClr val="1C222A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2263200" y="3840480"/>
            <a:ext cx="1323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800"/>
              <a:buFont typeface="Inter"/>
              <a:buNone/>
            </a:pPr>
            <a:r>
              <a:rPr b="1" i="0" lang="ru" sz="1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210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2263263" y="4162806"/>
            <a:ext cx="1323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lang="ru" sz="7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маркетинговых событий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2153469" y="3771900"/>
            <a:ext cx="34200" cy="672000"/>
          </a:xfrm>
          <a:prstGeom prst="roundRect">
            <a:avLst>
              <a:gd fmla="val 40000" name="adj"/>
            </a:avLst>
          </a:prstGeom>
          <a:solidFill>
            <a:srgbClr val="5B8DEF"/>
          </a:solidFill>
          <a:ln cap="flat" cmpd="sng" w="9525">
            <a:solidFill>
              <a:srgbClr val="5B8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3799433" y="3771900"/>
            <a:ext cx="1543200" cy="672000"/>
          </a:xfrm>
          <a:prstGeom prst="roundRect">
            <a:avLst>
              <a:gd fmla="val 12245" name="adj"/>
            </a:avLst>
          </a:prstGeom>
          <a:solidFill>
            <a:srgbClr val="1C222A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3909164" y="3840480"/>
            <a:ext cx="1323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800"/>
              <a:buFont typeface="Inter"/>
              <a:buNone/>
            </a:pPr>
            <a:r>
              <a:rPr b="1" lang="ru" sz="1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5.9 млн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3799433" y="3771900"/>
            <a:ext cx="34200" cy="672000"/>
          </a:xfrm>
          <a:prstGeom prst="roundRect">
            <a:avLst>
              <a:gd fmla="val 40000" name="adj"/>
            </a:avLst>
          </a:prstGeom>
          <a:solidFill>
            <a:srgbClr val="F4C95D"/>
          </a:solidFill>
          <a:ln cap="flat" cmpd="sng" w="9525">
            <a:solidFill>
              <a:srgbClr val="F4C9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5445382" y="3771900"/>
            <a:ext cx="3210300" cy="672000"/>
          </a:xfrm>
          <a:prstGeom prst="roundRect">
            <a:avLst>
              <a:gd fmla="val 9184" name="adj"/>
            </a:avLst>
          </a:prstGeom>
          <a:solidFill>
            <a:srgbClr val="11161B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5445369" y="3771900"/>
            <a:ext cx="34200" cy="672000"/>
          </a:xfrm>
          <a:prstGeom prst="roundRect">
            <a:avLst>
              <a:gd fmla="val 40000" name="adj"/>
            </a:avLst>
          </a:prstGeom>
          <a:solidFill>
            <a:srgbClr val="33D17A"/>
          </a:solidFill>
          <a:ln cap="flat" cmpd="sng" w="9525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5555100" y="3826775"/>
            <a:ext cx="3043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None/>
            </a:pPr>
            <a:r>
              <a:rPr b="1" lang="ru" sz="17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Главный результат:</a:t>
            </a:r>
            <a:endParaRPr b="1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4592013" y="745663"/>
            <a:ext cx="1544700" cy="425100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9525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2205738" y="672988"/>
            <a:ext cx="31434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Команда   </a:t>
            </a:r>
            <a:endParaRPr b="1"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5555175" y="4128600"/>
            <a:ext cx="28737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ct val="100000"/>
              <a:buFont typeface="Inter"/>
              <a:buNone/>
            </a:pPr>
            <a:r>
              <a:rPr lang="ru" sz="7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Превратили black box между рекламой и оплатой в измеримую систему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3792663" y="672988"/>
            <a:ext cx="31434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5 сигм</a:t>
            </a:r>
            <a:endParaRPr b="1"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3909213" y="4162806"/>
            <a:ext cx="1323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lang="ru" sz="7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выручка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356626" y="205740"/>
            <a:ext cx="1062900" cy="233100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9525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425207" y="233172"/>
            <a:ext cx="92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377200" y="562356"/>
            <a:ext cx="788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000"/>
              <a:buFont typeface="Inter"/>
              <a:buNone/>
            </a:pPr>
            <a:r>
              <a:rPr b="1" i="0" lang="ru" sz="2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Проблема </a:t>
            </a:r>
            <a:r>
              <a:rPr b="1" lang="ru" sz="2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–</a:t>
            </a:r>
            <a:r>
              <a:rPr b="1" i="0" lang="ru" sz="2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 продажи видны, пут</a:t>
            </a:r>
            <a:r>
              <a:rPr b="1" lang="ru" sz="2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и</a:t>
            </a:r>
            <a:r>
              <a:rPr b="1" i="0" lang="ru" sz="2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 к ним почти нет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8353267" y="260604"/>
            <a:ext cx="425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2/10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438928" y="1203684"/>
            <a:ext cx="1179600" cy="493800"/>
          </a:xfrm>
          <a:prstGeom prst="roundRect">
            <a:avLst>
              <a:gd fmla="val 13889" name="adj"/>
            </a:avLst>
          </a:prstGeom>
          <a:solidFill>
            <a:srgbClr val="35151C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514185" y="1369975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F5B6E"/>
                </a:solidFill>
                <a:latin typeface="Inter"/>
                <a:ea typeface="Inter"/>
                <a:cs typeface="Inter"/>
                <a:sym typeface="Inter"/>
              </a:rPr>
              <a:t>Реклама / пост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23" name="Google Shape;323;p18"/>
          <p:cNvCxnSpPr/>
          <p:nvPr/>
        </p:nvCxnSpPr>
        <p:spPr>
          <a:xfrm>
            <a:off x="1645968" y="1450572"/>
            <a:ext cx="178200" cy="0"/>
          </a:xfrm>
          <a:prstGeom prst="straightConnector1">
            <a:avLst/>
          </a:prstGeom>
          <a:noFill/>
          <a:ln cap="flat" cmpd="sng" w="14300">
            <a:solidFill>
              <a:srgbClr val="FF5B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4" name="Google Shape;324;p18"/>
          <p:cNvSpPr/>
          <p:nvPr/>
        </p:nvSpPr>
        <p:spPr>
          <a:xfrm>
            <a:off x="1844855" y="1203684"/>
            <a:ext cx="1179600" cy="493800"/>
          </a:xfrm>
          <a:prstGeom prst="roundRect">
            <a:avLst>
              <a:gd fmla="val 13889" name="adj"/>
            </a:avLst>
          </a:prstGeom>
          <a:solidFill>
            <a:srgbClr val="1C222A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1916775" y="1368338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Переход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26" name="Google Shape;326;p18"/>
          <p:cNvCxnSpPr/>
          <p:nvPr/>
        </p:nvCxnSpPr>
        <p:spPr>
          <a:xfrm>
            <a:off x="3051896" y="1450572"/>
            <a:ext cx="178200" cy="0"/>
          </a:xfrm>
          <a:prstGeom prst="straightConnector1">
            <a:avLst/>
          </a:prstGeom>
          <a:noFill/>
          <a:ln cap="flat" cmpd="sng" w="14300">
            <a:solidFill>
              <a:srgbClr val="FF5B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7" name="Google Shape;327;p18"/>
          <p:cNvSpPr/>
          <p:nvPr/>
        </p:nvSpPr>
        <p:spPr>
          <a:xfrm>
            <a:off x="3250783" y="1203684"/>
            <a:ext cx="1179600" cy="493800"/>
          </a:xfrm>
          <a:prstGeom prst="roundRect">
            <a:avLst>
              <a:gd fmla="val 13889" name="adj"/>
            </a:avLst>
          </a:prstGeom>
          <a:solidFill>
            <a:srgbClr val="1C222A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3322702" y="1368338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Основной канал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29" name="Google Shape;329;p18"/>
          <p:cNvCxnSpPr/>
          <p:nvPr/>
        </p:nvCxnSpPr>
        <p:spPr>
          <a:xfrm>
            <a:off x="4457823" y="1450572"/>
            <a:ext cx="178200" cy="0"/>
          </a:xfrm>
          <a:prstGeom prst="straightConnector1">
            <a:avLst/>
          </a:prstGeom>
          <a:noFill/>
          <a:ln cap="flat" cmpd="sng" w="14300">
            <a:solidFill>
              <a:srgbClr val="FF5B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18"/>
          <p:cNvSpPr/>
          <p:nvPr/>
        </p:nvSpPr>
        <p:spPr>
          <a:xfrm>
            <a:off x="4656710" y="1203684"/>
            <a:ext cx="1179600" cy="493800"/>
          </a:xfrm>
          <a:prstGeom prst="roundRect">
            <a:avLst>
              <a:gd fmla="val 13889" name="adj"/>
            </a:avLst>
          </a:prstGeom>
          <a:solidFill>
            <a:srgbClr val="1C222A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4728642" y="1369988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Менеджер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2" name="Google Shape;332;p18"/>
          <p:cNvCxnSpPr/>
          <p:nvPr/>
        </p:nvCxnSpPr>
        <p:spPr>
          <a:xfrm>
            <a:off x="5863751" y="1450572"/>
            <a:ext cx="178200" cy="0"/>
          </a:xfrm>
          <a:prstGeom prst="straightConnector1">
            <a:avLst/>
          </a:prstGeom>
          <a:noFill/>
          <a:ln cap="flat" cmpd="sng" w="14300">
            <a:solidFill>
              <a:srgbClr val="FF5B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" name="Google Shape;333;p18"/>
          <p:cNvSpPr/>
          <p:nvPr/>
        </p:nvSpPr>
        <p:spPr>
          <a:xfrm>
            <a:off x="6062638" y="1203684"/>
            <a:ext cx="1179600" cy="493800"/>
          </a:xfrm>
          <a:prstGeom prst="roundRect">
            <a:avLst>
              <a:gd fmla="val 13889" name="adj"/>
            </a:avLst>
          </a:prstGeom>
          <a:solidFill>
            <a:srgbClr val="123021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6134582" y="1368338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17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33D17A"/>
                </a:solidFill>
                <a:latin typeface="Inter"/>
                <a:ea typeface="Inter"/>
                <a:cs typeface="Inter"/>
                <a:sym typeface="Inter"/>
              </a:rPr>
              <a:t>Оплата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5" name="Google Shape;335;p18"/>
          <p:cNvCxnSpPr/>
          <p:nvPr/>
        </p:nvCxnSpPr>
        <p:spPr>
          <a:xfrm>
            <a:off x="7269678" y="1450572"/>
            <a:ext cx="178200" cy="0"/>
          </a:xfrm>
          <a:prstGeom prst="straightConnector1">
            <a:avLst/>
          </a:prstGeom>
          <a:noFill/>
          <a:ln cap="flat" cmpd="sng" w="14300">
            <a:solidFill>
              <a:srgbClr val="33D1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6" name="Google Shape;336;p18"/>
          <p:cNvSpPr/>
          <p:nvPr/>
        </p:nvSpPr>
        <p:spPr>
          <a:xfrm>
            <a:off x="7468565" y="1203684"/>
            <a:ext cx="1179600" cy="493800"/>
          </a:xfrm>
          <a:prstGeom prst="roundRect">
            <a:avLst>
              <a:gd fmla="val 13889" name="adj"/>
            </a:avLst>
          </a:prstGeom>
          <a:solidFill>
            <a:srgbClr val="14243A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7540497" y="1368338"/>
            <a:ext cx="10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C2FF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55C2FF"/>
                </a:solidFill>
                <a:latin typeface="Inter"/>
                <a:ea typeface="Inter"/>
                <a:cs typeface="Inter"/>
                <a:sym typeface="Inter"/>
              </a:rPr>
              <a:t>Курс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486935" y="1875768"/>
            <a:ext cx="5294700" cy="41100"/>
          </a:xfrm>
          <a:prstGeom prst="roundRect">
            <a:avLst>
              <a:gd fmla="val 33333" name="adj"/>
            </a:avLst>
          </a:prstGeom>
          <a:solidFill>
            <a:srgbClr val="F22D49"/>
          </a:solidFill>
          <a:ln cap="flat" cmpd="sng" w="9525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6179227" y="1875768"/>
            <a:ext cx="2276700" cy="41100"/>
          </a:xfrm>
          <a:prstGeom prst="roundRect">
            <a:avLst>
              <a:gd fmla="val 33333" name="adj"/>
            </a:avLst>
          </a:prstGeom>
          <a:solidFill>
            <a:srgbClr val="33D17A"/>
          </a:solidFill>
          <a:ln cap="flat" cmpd="sng" w="9525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1755699" y="1978638"/>
            <a:ext cx="2674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FF5B6E"/>
                </a:solidFill>
                <a:latin typeface="Inter"/>
                <a:ea typeface="Inter"/>
                <a:cs typeface="Inter"/>
                <a:sym typeface="Inter"/>
              </a:rPr>
              <a:t>наблюдаем плохо / не системно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6604434" y="1978638"/>
            <a:ext cx="14058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17A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33D17A"/>
                </a:solidFill>
                <a:latin typeface="Inter"/>
                <a:ea typeface="Inter"/>
                <a:cs typeface="Inter"/>
                <a:sym typeface="Inter"/>
              </a:rPr>
              <a:t>наблюдаем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69802" y="2504827"/>
            <a:ext cx="2551200" cy="1200300"/>
          </a:xfrm>
          <a:prstGeom prst="roundRect">
            <a:avLst>
              <a:gd fmla="val 5714" name="adj"/>
            </a:avLst>
          </a:prstGeom>
          <a:solidFill>
            <a:srgbClr val="151A20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620682" y="2669419"/>
            <a:ext cx="644700" cy="219300"/>
          </a:xfrm>
          <a:prstGeom prst="roundRect">
            <a:avLst>
              <a:gd fmla="val 37500" name="adj"/>
            </a:avLst>
          </a:prstGeom>
          <a:solidFill>
            <a:srgbClr val="35151C"/>
          </a:solidFill>
          <a:ln cap="flat" cmpd="sng" w="9525">
            <a:solidFill>
              <a:srgbClr val="3515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/>
          <p:cNvSpPr txBox="1"/>
          <p:nvPr/>
        </p:nvSpPr>
        <p:spPr>
          <a:xfrm>
            <a:off x="675547" y="2700280"/>
            <a:ext cx="534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5B6E"/>
                </a:solidFill>
                <a:latin typeface="Inter"/>
                <a:ea typeface="Inter"/>
                <a:cs typeface="Inter"/>
                <a:sym typeface="Inter"/>
              </a:rPr>
              <a:t>ТЕРЯЕТСЯ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620682" y="2978028"/>
            <a:ext cx="2112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Char char="•"/>
            </a:pPr>
            <a:r>
              <a:rPr b="0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source / campaign / placement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Char char="•"/>
            </a:pPr>
            <a:r>
              <a:rPr b="0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user-level touch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Char char="•"/>
            </a:pPr>
            <a:r>
              <a:rPr b="0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интерес к продукту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Char char="•"/>
            </a:pPr>
            <a:r>
              <a:rPr b="0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стоимость размещения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Char char="•"/>
            </a:pPr>
            <a:r>
              <a:rPr b="0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связь лида с оплатой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3267940" y="2504827"/>
            <a:ext cx="2551200" cy="1200300"/>
          </a:xfrm>
          <a:prstGeom prst="roundRect">
            <a:avLst>
              <a:gd fmla="val 5714" name="adj"/>
            </a:avLst>
          </a:prstGeom>
          <a:solidFill>
            <a:srgbClr val="151A20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3418820" y="2669419"/>
            <a:ext cx="1062900" cy="219300"/>
          </a:xfrm>
          <a:prstGeom prst="roundRect">
            <a:avLst>
              <a:gd fmla="val 37500" name="adj"/>
            </a:avLst>
          </a:prstGeom>
          <a:solidFill>
            <a:srgbClr val="14243A"/>
          </a:solidFill>
          <a:ln cap="flat" cmpd="sng" w="9525">
            <a:solidFill>
              <a:srgbClr val="1424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3473686" y="2700280"/>
            <a:ext cx="953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C2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55C2FF"/>
                </a:solidFill>
                <a:latin typeface="Inter"/>
                <a:ea typeface="Inter"/>
                <a:cs typeface="Inter"/>
                <a:sym typeface="Inter"/>
              </a:rPr>
              <a:t>НУЖНО ЛОГИРОВАТЬ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3418820" y="2978028"/>
            <a:ext cx="2126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-1333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Char char="•"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campaign_id / placement_id / creative_id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333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Char char="•"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tracking payload / promo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333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Char char="•"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hashed user_id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333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Char char="•"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lead_id → order_id → payment_id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333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Char char="•"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publication_time + cost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6066079" y="2504827"/>
            <a:ext cx="2551200" cy="1200300"/>
          </a:xfrm>
          <a:prstGeom prst="roundRect">
            <a:avLst>
              <a:gd fmla="val 5714" name="adj"/>
            </a:avLst>
          </a:prstGeom>
          <a:solidFill>
            <a:srgbClr val="151A20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6216959" y="2669419"/>
            <a:ext cx="912300" cy="219300"/>
          </a:xfrm>
          <a:prstGeom prst="roundRect">
            <a:avLst>
              <a:gd fmla="val 37500" name="adj"/>
            </a:avLst>
          </a:prstGeom>
          <a:solidFill>
            <a:srgbClr val="342C16"/>
          </a:solidFill>
          <a:ln cap="flat" cmpd="sng" w="9525">
            <a:solidFill>
              <a:srgbClr val="342C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6271824" y="2700280"/>
            <a:ext cx="802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C95D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4C95D"/>
                </a:solidFill>
                <a:latin typeface="Inter"/>
                <a:ea typeface="Inter"/>
                <a:cs typeface="Inter"/>
                <a:sym typeface="Inter"/>
              </a:rPr>
              <a:t>БИЗНЕС-ВОПРОС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6216959" y="2984887"/>
            <a:ext cx="2071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000"/>
              <a:buFont typeface="Inter"/>
              <a:buNone/>
            </a:pPr>
            <a:r>
              <a:rPr b="1" i="0" lang="ru" sz="1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«У меня есть 300 000 ₽ на следующий запуск. Что делать?»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6216959" y="3423799"/>
            <a:ext cx="20712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0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Ответ — не один канал, а воспроизводимый decision loop.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929230" y="4174621"/>
            <a:ext cx="7235400" cy="384000"/>
          </a:xfrm>
          <a:prstGeom prst="roundRect">
            <a:avLst>
              <a:gd fmla="val 16071" name="adj"/>
            </a:avLst>
          </a:prstGeom>
          <a:solidFill>
            <a:srgbClr val="11161B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929230" y="4174621"/>
            <a:ext cx="34200" cy="384000"/>
          </a:xfrm>
          <a:prstGeom prst="roundRect">
            <a:avLst>
              <a:gd fmla="val 40000" name="adj"/>
            </a:avLst>
          </a:prstGeom>
          <a:solidFill>
            <a:srgbClr val="F22D49"/>
          </a:solidFill>
          <a:ln cap="flat" cmpd="sng" w="9525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 txBox="1"/>
          <p:nvPr/>
        </p:nvSpPr>
        <p:spPr>
          <a:xfrm>
            <a:off x="1038961" y="4229485"/>
            <a:ext cx="704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0" i="0" lang="ru" sz="1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Цель кейса: превратить black box в измеримую цепочку marketing activity → user touch → lead → payment → revenue.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"/>
          <p:cNvSpPr/>
          <p:nvPr/>
        </p:nvSpPr>
        <p:spPr>
          <a:xfrm>
            <a:off x="445775" y="1062950"/>
            <a:ext cx="3001800" cy="1053000"/>
          </a:xfrm>
          <a:prstGeom prst="roundRect">
            <a:avLst>
              <a:gd fmla="val 12245" name="adj"/>
            </a:avLst>
          </a:prstGeom>
          <a:solidFill>
            <a:srgbClr val="0B6374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356626" y="205740"/>
            <a:ext cx="1062900" cy="233100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9525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425207" y="233172"/>
            <a:ext cx="92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19"/>
          <p:cNvSpPr txBox="1"/>
          <p:nvPr/>
        </p:nvSpPr>
        <p:spPr>
          <a:xfrm>
            <a:off x="377200" y="562356"/>
            <a:ext cx="788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000"/>
              <a:buFont typeface="Inter"/>
              <a:buNone/>
            </a:pPr>
            <a:r>
              <a:rPr b="1" i="0" lang="ru" sz="2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Что у нас есть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8353267" y="260604"/>
            <a:ext cx="425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3/10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611049" y="1157650"/>
            <a:ext cx="1238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C2FF"/>
              </a:buClr>
              <a:buSzPts val="600"/>
              <a:buFont typeface="Inter"/>
              <a:buNone/>
            </a:pPr>
            <a:r>
              <a:rPr b="1" lang="ru" sz="900">
                <a:solidFill>
                  <a:srgbClr val="55C2FF"/>
                </a:solidFill>
                <a:latin typeface="Inter"/>
                <a:ea typeface="Inter"/>
                <a:cs typeface="Inter"/>
                <a:sym typeface="Inter"/>
              </a:rPr>
              <a:t>Данные о продажах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19"/>
          <p:cNvSpPr txBox="1"/>
          <p:nvPr/>
        </p:nvSpPr>
        <p:spPr>
          <a:xfrm>
            <a:off x="445775" y="2323825"/>
            <a:ext cx="742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0" i="0" lang="ru" sz="13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Период продаж: 04.08–10.09.2026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445775" y="2688325"/>
            <a:ext cx="3805200" cy="1440300"/>
          </a:xfrm>
          <a:prstGeom prst="roundRect">
            <a:avLst>
              <a:gd fmla="val 5238" name="adj"/>
            </a:avLst>
          </a:prstGeom>
          <a:solidFill>
            <a:srgbClr val="151A20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lt1"/>
                </a:solidFill>
              </a:rPr>
              <a:t>     Реальные обезличенные данные о покупках</a:t>
            </a:r>
            <a:endParaRPr b="1" sz="8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</a:pPr>
            <a:r>
              <a:rPr lang="ru" sz="800">
                <a:solidFill>
                  <a:srgbClr val="33D17A"/>
                </a:solidFill>
                <a:latin typeface="Roboto Mono"/>
                <a:ea typeface="Roboto Mono"/>
                <a:cs typeface="Roboto Mono"/>
                <a:sym typeface="Roboto Mono"/>
              </a:rPr>
              <a:t>student_id</a:t>
            </a:r>
            <a:r>
              <a:rPr lang="ru" sz="800">
                <a:solidFill>
                  <a:schemeClr val="lt1"/>
                </a:solidFill>
              </a:rPr>
              <a:t> — идентификатор покупателя</a:t>
            </a:r>
            <a:endParaRPr sz="8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</a:pPr>
            <a:r>
              <a:rPr lang="ru" sz="800">
                <a:solidFill>
                  <a:srgbClr val="33D17A"/>
                </a:solidFill>
                <a:latin typeface="Roboto Mono"/>
                <a:ea typeface="Roboto Mono"/>
                <a:cs typeface="Roboto Mono"/>
                <a:sym typeface="Roboto Mono"/>
              </a:rPr>
              <a:t>course</a:t>
            </a:r>
            <a:r>
              <a:rPr lang="ru" sz="800">
                <a:solidFill>
                  <a:schemeClr val="lt1"/>
                </a:solidFill>
              </a:rPr>
              <a:t> — приобретённый курс</a:t>
            </a:r>
            <a:endParaRPr sz="8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</a:pPr>
            <a:r>
              <a:rPr lang="ru" sz="800">
                <a:solidFill>
                  <a:srgbClr val="33D17A"/>
                </a:solidFill>
                <a:latin typeface="Roboto Mono"/>
                <a:ea typeface="Roboto Mono"/>
                <a:cs typeface="Roboto Mono"/>
                <a:sym typeface="Roboto Mono"/>
              </a:rPr>
              <a:t>amount</a:t>
            </a:r>
            <a:r>
              <a:rPr lang="ru" sz="800">
                <a:solidFill>
                  <a:schemeClr val="lt1"/>
                </a:solidFill>
              </a:rPr>
              <a:t> — сумма покупки</a:t>
            </a:r>
            <a:endParaRPr sz="8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</a:pPr>
            <a:r>
              <a:rPr lang="ru" sz="800">
                <a:solidFill>
                  <a:srgbClr val="33D17A"/>
                </a:solidFill>
                <a:latin typeface="Roboto Mono"/>
                <a:ea typeface="Roboto Mono"/>
                <a:cs typeface="Roboto Mono"/>
                <a:sym typeface="Roboto Mono"/>
              </a:rPr>
              <a:t>timestamp</a:t>
            </a:r>
            <a:r>
              <a:rPr lang="ru" sz="800">
                <a:solidFill>
                  <a:schemeClr val="lt1"/>
                </a:solidFill>
              </a:rPr>
              <a:t> — время покупки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4572000" y="2684825"/>
            <a:ext cx="3996600" cy="1440300"/>
          </a:xfrm>
          <a:prstGeom prst="roundRect">
            <a:avLst>
              <a:gd fmla="val 5238" name="adj"/>
            </a:avLst>
          </a:prstGeom>
          <a:solidFill>
            <a:srgbClr val="151A20"/>
          </a:solidFill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chemeClr val="lt1"/>
                </a:solidFill>
              </a:rPr>
              <a:t>    Восстановленная история маркетинговых активностей</a:t>
            </a:r>
            <a:endParaRPr b="1" sz="8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</a:pPr>
            <a:r>
              <a:rPr lang="ru" sz="800">
                <a:solidFill>
                  <a:schemeClr val="lt1"/>
                </a:solidFill>
              </a:rPr>
              <a:t>внутренние посты и промо в канале Поступашек</a:t>
            </a:r>
            <a:endParaRPr sz="8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</a:pPr>
            <a:r>
              <a:rPr lang="ru" sz="800">
                <a:solidFill>
                  <a:schemeClr val="lt1"/>
                </a:solidFill>
              </a:rPr>
              <a:t>внешние рекламные размещения</a:t>
            </a:r>
            <a:endParaRPr sz="8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</a:pPr>
            <a:r>
              <a:rPr lang="ru" sz="800">
                <a:solidFill>
                  <a:schemeClr val="lt1"/>
                </a:solidFill>
              </a:rPr>
              <a:t>дата и канал публикации</a:t>
            </a:r>
            <a:endParaRPr sz="8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</a:pPr>
            <a:r>
              <a:rPr lang="ru" sz="800">
                <a:solidFill>
                  <a:schemeClr val="lt1"/>
                </a:solidFill>
              </a:rPr>
              <a:t>тип активности и рекламируемый продукт</a:t>
            </a:r>
            <a:endParaRPr sz="8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</a:pPr>
            <a:r>
              <a:rPr lang="ru" sz="800">
                <a:solidFill>
                  <a:schemeClr val="lt1"/>
                </a:solidFill>
              </a:rPr>
              <a:t>доступные просмотры / реакции</a:t>
            </a:r>
            <a:endParaRPr sz="800">
              <a:solidFill>
                <a:schemeClr val="lt1"/>
              </a:solidFill>
            </a:endParaRPr>
          </a:p>
        </p:txBody>
      </p:sp>
      <p:grpSp>
        <p:nvGrpSpPr>
          <p:cNvPr id="372" name="Google Shape;372;p19"/>
          <p:cNvGrpSpPr/>
          <p:nvPr/>
        </p:nvGrpSpPr>
        <p:grpSpPr>
          <a:xfrm>
            <a:off x="588108" y="1365650"/>
            <a:ext cx="1284290" cy="585312"/>
            <a:chOff x="425207" y="1316736"/>
            <a:chExt cx="1474500" cy="672000"/>
          </a:xfrm>
        </p:grpSpPr>
        <p:sp>
          <p:nvSpPr>
            <p:cNvPr id="373" name="Google Shape;373;p19"/>
            <p:cNvSpPr/>
            <p:nvPr/>
          </p:nvSpPr>
          <p:spPr>
            <a:xfrm>
              <a:off x="425207" y="1316736"/>
              <a:ext cx="1474500" cy="672000"/>
            </a:xfrm>
            <a:prstGeom prst="roundRect">
              <a:avLst>
                <a:gd fmla="val 12245" name="adj"/>
              </a:avLst>
            </a:prstGeom>
            <a:solidFill>
              <a:srgbClr val="1C222A"/>
            </a:solidFill>
            <a:ln cap="flat" cmpd="sng" w="8300">
              <a:solidFill>
                <a:srgbClr val="2A31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725" lIns="59725" spcFirstLastPara="1" rIns="59725" wrap="square" tIns="59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9"/>
            <p:cNvSpPr txBox="1"/>
            <p:nvPr/>
          </p:nvSpPr>
          <p:spPr>
            <a:xfrm>
              <a:off x="534938" y="1385316"/>
              <a:ext cx="12552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7F8FA"/>
                </a:buClr>
                <a:buSzPts val="1568"/>
                <a:buFont typeface="Inter"/>
                <a:buNone/>
              </a:pPr>
              <a:r>
                <a:rPr b="1" i="0" lang="ru" sz="1568" u="none" cap="none" strike="noStrike">
                  <a:solidFill>
                    <a:srgbClr val="F7F8FA"/>
                  </a:solidFill>
                  <a:latin typeface="Inter"/>
                  <a:ea typeface="Inter"/>
                  <a:cs typeface="Inter"/>
                  <a:sym typeface="Inter"/>
                </a:rPr>
                <a:t>795</a:t>
              </a:r>
              <a:endParaRPr b="0" i="0" sz="1568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5" name="Google Shape;375;p19"/>
            <p:cNvSpPr txBox="1"/>
            <p:nvPr/>
          </p:nvSpPr>
          <p:spPr>
            <a:xfrm>
              <a:off x="534938" y="1707642"/>
              <a:ext cx="12552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AA4B2"/>
                </a:buClr>
                <a:buSzPts val="610"/>
                <a:buFont typeface="Inter"/>
                <a:buNone/>
              </a:pPr>
              <a:r>
                <a:rPr b="0" i="0" lang="ru" sz="610" u="none" cap="none" strike="noStrike">
                  <a:solidFill>
                    <a:srgbClr val="9AA4B2"/>
                  </a:solidFill>
                  <a:latin typeface="Inter"/>
                  <a:ea typeface="Inter"/>
                  <a:cs typeface="Inter"/>
                  <a:sym typeface="Inter"/>
                </a:rPr>
                <a:t>строк продаж</a:t>
              </a:r>
              <a:endParaRPr b="0" i="0" sz="61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6" name="Google Shape;376;p19"/>
          <p:cNvSpPr/>
          <p:nvPr/>
        </p:nvSpPr>
        <p:spPr>
          <a:xfrm>
            <a:off x="4738774" y="2762725"/>
            <a:ext cx="1377000" cy="259500"/>
          </a:xfrm>
          <a:prstGeom prst="roundRect">
            <a:avLst>
              <a:gd fmla="val 37500" name="adj"/>
            </a:avLst>
          </a:prstGeom>
          <a:solidFill>
            <a:srgbClr val="241C3A"/>
          </a:solidFill>
          <a:ln cap="flat" cmpd="sng" w="16375">
            <a:solidFill>
              <a:srgbClr val="12302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925" lIns="117925" spcFirstLastPara="1" rIns="117925" wrap="square" tIns="11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 txBox="1"/>
          <p:nvPr/>
        </p:nvSpPr>
        <p:spPr>
          <a:xfrm>
            <a:off x="4808065" y="2776976"/>
            <a:ext cx="123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BFF"/>
              </a:buClr>
              <a:buSzPts val="918"/>
              <a:buFont typeface="Inter"/>
              <a:buNone/>
            </a:pPr>
            <a:r>
              <a:rPr b="1" lang="ru" sz="1018">
                <a:solidFill>
                  <a:srgbClr val="9A7BFF"/>
                </a:solidFill>
                <a:latin typeface="Inter"/>
                <a:ea typeface="Inter"/>
                <a:cs typeface="Inter"/>
                <a:sym typeface="Inter"/>
              </a:rPr>
              <a:t>Marketing</a:t>
            </a:r>
            <a:r>
              <a:rPr b="1" lang="ru" sz="1018">
                <a:solidFill>
                  <a:srgbClr val="9A7BFF"/>
                </a:solidFill>
                <a:latin typeface="Inter"/>
                <a:ea typeface="Inter"/>
                <a:cs typeface="Inter"/>
                <a:sym typeface="Inter"/>
              </a:rPr>
              <a:t> history</a:t>
            </a:r>
            <a:endParaRPr b="0" i="0" sz="101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638227" y="2805678"/>
            <a:ext cx="925800" cy="259500"/>
          </a:xfrm>
          <a:prstGeom prst="roundRect">
            <a:avLst>
              <a:gd fmla="val 37500" name="adj"/>
            </a:avLst>
          </a:prstGeom>
          <a:solidFill>
            <a:srgbClr val="123021"/>
          </a:solidFill>
          <a:ln cap="flat" cmpd="sng" w="16375">
            <a:solidFill>
              <a:srgbClr val="12302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925" lIns="117925" spcFirstLastPara="1" rIns="117925" wrap="square" tIns="11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683375" y="2805675"/>
            <a:ext cx="8355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17A"/>
              </a:buClr>
              <a:buSzPts val="1032"/>
              <a:buFont typeface="Inter"/>
              <a:buNone/>
            </a:pPr>
            <a:r>
              <a:rPr b="1" lang="ru" sz="1032">
                <a:solidFill>
                  <a:srgbClr val="33D17A"/>
                </a:solidFill>
                <a:latin typeface="Inter"/>
                <a:ea typeface="Inter"/>
                <a:cs typeface="Inter"/>
                <a:sym typeface="Inter"/>
              </a:rPr>
              <a:t>Продажи</a:t>
            </a:r>
            <a:endParaRPr b="0" i="0" sz="1032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80" name="Google Shape;380;p19"/>
          <p:cNvGrpSpPr/>
          <p:nvPr/>
        </p:nvGrpSpPr>
        <p:grpSpPr>
          <a:xfrm>
            <a:off x="1980983" y="1365650"/>
            <a:ext cx="1284289" cy="585312"/>
            <a:chOff x="425207" y="1316736"/>
            <a:chExt cx="1474500" cy="672000"/>
          </a:xfrm>
        </p:grpSpPr>
        <p:sp>
          <p:nvSpPr>
            <p:cNvPr id="381" name="Google Shape;381;p19"/>
            <p:cNvSpPr/>
            <p:nvPr/>
          </p:nvSpPr>
          <p:spPr>
            <a:xfrm>
              <a:off x="425207" y="1316736"/>
              <a:ext cx="1474500" cy="672000"/>
            </a:xfrm>
            <a:prstGeom prst="roundRect">
              <a:avLst>
                <a:gd fmla="val 12245" name="adj"/>
              </a:avLst>
            </a:prstGeom>
            <a:solidFill>
              <a:srgbClr val="1C222A"/>
            </a:solidFill>
            <a:ln cap="flat" cmpd="sng" w="8300">
              <a:solidFill>
                <a:srgbClr val="2A31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725" lIns="59725" spcFirstLastPara="1" rIns="59725" wrap="square" tIns="59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9"/>
            <p:cNvSpPr txBox="1"/>
            <p:nvPr/>
          </p:nvSpPr>
          <p:spPr>
            <a:xfrm>
              <a:off x="534938" y="1385316"/>
              <a:ext cx="12552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7F8FA"/>
                </a:buClr>
                <a:buSzPts val="1568"/>
                <a:buFont typeface="Inter"/>
                <a:buNone/>
              </a:pPr>
              <a:r>
                <a:rPr b="1" lang="ru" sz="1568">
                  <a:solidFill>
                    <a:srgbClr val="F7F8FA"/>
                  </a:solidFill>
                  <a:latin typeface="Inter"/>
                  <a:ea typeface="Inter"/>
                  <a:cs typeface="Inter"/>
                  <a:sym typeface="Inter"/>
                </a:rPr>
                <a:t>18</a:t>
              </a:r>
              <a:endParaRPr b="0" i="0" sz="1568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3" name="Google Shape;383;p19"/>
            <p:cNvSpPr txBox="1"/>
            <p:nvPr/>
          </p:nvSpPr>
          <p:spPr>
            <a:xfrm>
              <a:off x="534938" y="1707642"/>
              <a:ext cx="12552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AA4B2"/>
                </a:buClr>
                <a:buSzPts val="610"/>
                <a:buFont typeface="Inter"/>
                <a:buNone/>
              </a:pPr>
              <a:r>
                <a:rPr lang="ru" sz="610">
                  <a:solidFill>
                    <a:srgbClr val="9AA4B2"/>
                  </a:solidFill>
                  <a:latin typeface="Inter"/>
                  <a:ea typeface="Inter"/>
                  <a:cs typeface="Inter"/>
                  <a:sym typeface="Inter"/>
                </a:rPr>
                <a:t>различных курсов</a:t>
              </a:r>
              <a:endParaRPr b="0" i="0" sz="61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377200" y="4238150"/>
            <a:ext cx="819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F22D49"/>
                </a:solidFill>
              </a:rPr>
              <a:t>Ограничение:</a:t>
            </a:r>
            <a:r>
              <a:rPr lang="ru" sz="1200">
                <a:solidFill>
                  <a:schemeClr val="lt1"/>
                </a:solidFill>
              </a:rPr>
              <a:t> исторически нет user-level связи между маркетинговым касанием и покупкой и нет полной информации о стоимости размещений, поэтому точный ROMI по прошлому посчитать нельзя.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85" name="Google Shape;385;p19"/>
          <p:cNvGrpSpPr/>
          <p:nvPr/>
        </p:nvGrpSpPr>
        <p:grpSpPr>
          <a:xfrm>
            <a:off x="4143275" y="1059788"/>
            <a:ext cx="4425300" cy="1053000"/>
            <a:chOff x="4143400" y="1024288"/>
            <a:chExt cx="4425300" cy="1053000"/>
          </a:xfrm>
        </p:grpSpPr>
        <p:sp>
          <p:nvSpPr>
            <p:cNvPr id="386" name="Google Shape;386;p19"/>
            <p:cNvSpPr/>
            <p:nvPr/>
          </p:nvSpPr>
          <p:spPr>
            <a:xfrm>
              <a:off x="4143400" y="1024288"/>
              <a:ext cx="4425300" cy="1053000"/>
            </a:xfrm>
            <a:prstGeom prst="roundRect">
              <a:avLst>
                <a:gd fmla="val 12245" name="adj"/>
              </a:avLst>
            </a:prstGeom>
            <a:solidFill>
              <a:srgbClr val="FF5B6E"/>
            </a:solidFill>
            <a:ln cap="flat" cmpd="sng" w="9525">
              <a:solidFill>
                <a:srgbClr val="2A31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9"/>
            <p:cNvSpPr txBox="1"/>
            <p:nvPr/>
          </p:nvSpPr>
          <p:spPr>
            <a:xfrm>
              <a:off x="4331552" y="1142213"/>
              <a:ext cx="3081000" cy="150900"/>
            </a:xfrm>
            <a:prstGeom prst="rect">
              <a:avLst/>
            </a:prstGeom>
            <a:solidFill>
              <a:srgbClr val="F22D49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5C2FF"/>
                </a:buClr>
                <a:buSzPts val="600"/>
                <a:buFont typeface="Inter"/>
                <a:buNone/>
              </a:pPr>
              <a:r>
                <a:rPr b="1" lang="ru" sz="900">
                  <a:solidFill>
                    <a:srgbClr val="F7E4E7"/>
                  </a:solidFill>
                  <a:latin typeface="Inter"/>
                  <a:ea typeface="Inter"/>
                  <a:cs typeface="Inter"/>
                  <a:sym typeface="Inter"/>
                </a:rPr>
                <a:t>Маркетинговая история в Telegram</a:t>
              </a:r>
              <a:endParaRPr b="0" i="0" sz="900" u="none" cap="none" strike="noStrike">
                <a:solidFill>
                  <a:srgbClr val="F7E4E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88" name="Google Shape;388;p19"/>
            <p:cNvGrpSpPr/>
            <p:nvPr/>
          </p:nvGrpSpPr>
          <p:grpSpPr>
            <a:xfrm>
              <a:off x="4308608" y="1373812"/>
              <a:ext cx="1284289" cy="585312"/>
              <a:chOff x="425207" y="1316736"/>
              <a:chExt cx="1474500" cy="672000"/>
            </a:xfrm>
          </p:grpSpPr>
          <p:sp>
            <p:nvSpPr>
              <p:cNvPr id="389" name="Google Shape;389;p19"/>
              <p:cNvSpPr/>
              <p:nvPr/>
            </p:nvSpPr>
            <p:spPr>
              <a:xfrm>
                <a:off x="425207" y="1316736"/>
                <a:ext cx="1474500" cy="672000"/>
              </a:xfrm>
              <a:prstGeom prst="roundRect">
                <a:avLst>
                  <a:gd fmla="val 12245" name="adj"/>
                </a:avLst>
              </a:prstGeom>
              <a:solidFill>
                <a:srgbClr val="1C222A"/>
              </a:solidFill>
              <a:ln cap="flat" cmpd="sng" w="8300">
                <a:solidFill>
                  <a:srgbClr val="2A31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9725" lIns="59725" spcFirstLastPara="1" rIns="59725" wrap="square" tIns="59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9"/>
              <p:cNvSpPr txBox="1"/>
              <p:nvPr/>
            </p:nvSpPr>
            <p:spPr>
              <a:xfrm>
                <a:off x="534938" y="1385316"/>
                <a:ext cx="12552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7F8FA"/>
                  </a:buClr>
                  <a:buSzPts val="1568"/>
                  <a:buFont typeface="Inter"/>
                  <a:buNone/>
                </a:pPr>
                <a:r>
                  <a:rPr b="1" lang="ru" sz="1568">
                    <a:solidFill>
                      <a:srgbClr val="F7F8FA"/>
                    </a:solidFill>
                    <a:latin typeface="Inter"/>
                    <a:ea typeface="Inter"/>
                    <a:cs typeface="Inter"/>
                    <a:sym typeface="Inter"/>
                  </a:rPr>
                  <a:t>210</a:t>
                </a:r>
                <a:endParaRPr b="0" i="0" sz="1568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1" name="Google Shape;391;p19"/>
              <p:cNvSpPr txBox="1"/>
              <p:nvPr/>
            </p:nvSpPr>
            <p:spPr>
              <a:xfrm>
                <a:off x="534938" y="1707642"/>
                <a:ext cx="1255200" cy="16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9AA4B2"/>
                  </a:buClr>
                  <a:buSzPts val="610"/>
                  <a:buFont typeface="Inter"/>
                  <a:buNone/>
                </a:pPr>
                <a:r>
                  <a:rPr lang="ru" sz="610">
                    <a:solidFill>
                      <a:srgbClr val="9AA4B2"/>
                    </a:solidFill>
                    <a:latin typeface="Inter"/>
                    <a:ea typeface="Inter"/>
                    <a:cs typeface="Inter"/>
                    <a:sym typeface="Inter"/>
                  </a:rPr>
                  <a:t>маркетинговых событий</a:t>
                </a:r>
                <a:endParaRPr b="0" i="0" sz="610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2" name="Google Shape;392;p19"/>
            <p:cNvGrpSpPr/>
            <p:nvPr/>
          </p:nvGrpSpPr>
          <p:grpSpPr>
            <a:xfrm>
              <a:off x="5701308" y="1373812"/>
              <a:ext cx="1284289" cy="585312"/>
              <a:chOff x="425207" y="1316736"/>
              <a:chExt cx="1474500" cy="672000"/>
            </a:xfrm>
          </p:grpSpPr>
          <p:sp>
            <p:nvSpPr>
              <p:cNvPr id="393" name="Google Shape;393;p19"/>
              <p:cNvSpPr/>
              <p:nvPr/>
            </p:nvSpPr>
            <p:spPr>
              <a:xfrm>
                <a:off x="425207" y="1316736"/>
                <a:ext cx="1474500" cy="672000"/>
              </a:xfrm>
              <a:prstGeom prst="roundRect">
                <a:avLst>
                  <a:gd fmla="val 12245" name="adj"/>
                </a:avLst>
              </a:prstGeom>
              <a:solidFill>
                <a:srgbClr val="1C222A"/>
              </a:solidFill>
              <a:ln cap="flat" cmpd="sng" w="8300">
                <a:solidFill>
                  <a:srgbClr val="2A31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9725" lIns="59725" spcFirstLastPara="1" rIns="59725" wrap="square" tIns="59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9"/>
              <p:cNvSpPr txBox="1"/>
              <p:nvPr/>
            </p:nvSpPr>
            <p:spPr>
              <a:xfrm>
                <a:off x="534938" y="1385316"/>
                <a:ext cx="12552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7F8FA"/>
                  </a:buClr>
                  <a:buSzPts val="1568"/>
                  <a:buFont typeface="Inter"/>
                  <a:buNone/>
                </a:pPr>
                <a:r>
                  <a:rPr b="1" lang="ru" sz="1568">
                    <a:solidFill>
                      <a:srgbClr val="F7F8FA"/>
                    </a:solidFill>
                    <a:latin typeface="Inter"/>
                    <a:ea typeface="Inter"/>
                    <a:cs typeface="Inter"/>
                    <a:sym typeface="Inter"/>
                  </a:rPr>
                  <a:t>8</a:t>
                </a:r>
                <a:endParaRPr b="0" i="0" sz="1568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5" name="Google Shape;395;p19"/>
              <p:cNvSpPr txBox="1"/>
              <p:nvPr/>
            </p:nvSpPr>
            <p:spPr>
              <a:xfrm>
                <a:off x="534938" y="1707642"/>
                <a:ext cx="1255200" cy="16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9AA4B2"/>
                  </a:buClr>
                  <a:buSzPts val="610"/>
                  <a:buFont typeface="Inter"/>
                  <a:buNone/>
                </a:pPr>
                <a:r>
                  <a:rPr lang="ru" sz="610">
                    <a:solidFill>
                      <a:srgbClr val="9AA4B2"/>
                    </a:solidFill>
                    <a:latin typeface="Inter"/>
                    <a:ea typeface="Inter"/>
                    <a:cs typeface="Inter"/>
                    <a:sym typeface="Inter"/>
                  </a:rPr>
                  <a:t>различных каналов</a:t>
                </a:r>
                <a:endParaRPr b="0" i="0" sz="610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6" name="Google Shape;396;p19"/>
            <p:cNvGrpSpPr/>
            <p:nvPr/>
          </p:nvGrpSpPr>
          <p:grpSpPr>
            <a:xfrm>
              <a:off x="7094008" y="1373812"/>
              <a:ext cx="1284289" cy="585312"/>
              <a:chOff x="425207" y="1316736"/>
              <a:chExt cx="1474500" cy="672000"/>
            </a:xfrm>
          </p:grpSpPr>
          <p:sp>
            <p:nvSpPr>
              <p:cNvPr id="397" name="Google Shape;397;p19"/>
              <p:cNvSpPr/>
              <p:nvPr/>
            </p:nvSpPr>
            <p:spPr>
              <a:xfrm>
                <a:off x="425207" y="1316736"/>
                <a:ext cx="1474500" cy="672000"/>
              </a:xfrm>
              <a:prstGeom prst="roundRect">
                <a:avLst>
                  <a:gd fmla="val 12245" name="adj"/>
                </a:avLst>
              </a:prstGeom>
              <a:solidFill>
                <a:srgbClr val="1C222A"/>
              </a:solidFill>
              <a:ln cap="flat" cmpd="sng" w="8300">
                <a:solidFill>
                  <a:srgbClr val="2A31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9725" lIns="59725" spcFirstLastPara="1" rIns="59725" wrap="square" tIns="59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9"/>
              <p:cNvSpPr txBox="1"/>
              <p:nvPr/>
            </p:nvSpPr>
            <p:spPr>
              <a:xfrm>
                <a:off x="534938" y="1385316"/>
                <a:ext cx="12552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7F8FA"/>
                  </a:buClr>
                  <a:buSzPts val="1568"/>
                  <a:buFont typeface="Inter"/>
                  <a:buNone/>
                </a:pPr>
                <a:r>
                  <a:rPr b="1" lang="ru" sz="1568">
                    <a:solidFill>
                      <a:srgbClr val="F7F8FA"/>
                    </a:solidFill>
                    <a:latin typeface="Inter"/>
                    <a:ea typeface="Inter"/>
                    <a:cs typeface="Inter"/>
                    <a:sym typeface="Inter"/>
                  </a:rPr>
                  <a:t>7</a:t>
                </a:r>
                <a:endParaRPr b="0" i="0" sz="1568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9" name="Google Shape;399;p19"/>
              <p:cNvSpPr txBox="1"/>
              <p:nvPr/>
            </p:nvSpPr>
            <p:spPr>
              <a:xfrm>
                <a:off x="534938" y="1707642"/>
                <a:ext cx="1255200" cy="16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9AA4B2"/>
                  </a:buClr>
                  <a:buSzPts val="610"/>
                  <a:buFont typeface="Inter"/>
                  <a:buNone/>
                </a:pPr>
                <a:r>
                  <a:rPr lang="ru" sz="610">
                    <a:solidFill>
                      <a:srgbClr val="9AA4B2"/>
                    </a:solidFill>
                    <a:latin typeface="Inter"/>
                    <a:ea typeface="Inter"/>
                    <a:cs typeface="Inter"/>
                    <a:sym typeface="Inter"/>
                  </a:rPr>
                  <a:t>типов рекламы</a:t>
                </a:r>
                <a:endParaRPr b="0" i="0" sz="610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400" name="Google Shape;400;p19"/>
          <p:cNvCxnSpPr>
            <a:stCxn id="363" idx="3"/>
            <a:endCxn id="386" idx="1"/>
          </p:cNvCxnSpPr>
          <p:nvPr/>
        </p:nvCxnSpPr>
        <p:spPr>
          <a:xfrm flipH="1" rot="10800000">
            <a:off x="3447575" y="1586150"/>
            <a:ext cx="6957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"/>
          <p:cNvSpPr/>
          <p:nvPr/>
        </p:nvSpPr>
        <p:spPr>
          <a:xfrm>
            <a:off x="356626" y="205740"/>
            <a:ext cx="1063018" cy="233172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>
            <a:off x="425207" y="233172"/>
            <a:ext cx="92585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20"/>
          <p:cNvSpPr txBox="1"/>
          <p:nvPr/>
        </p:nvSpPr>
        <p:spPr>
          <a:xfrm>
            <a:off x="377200" y="562350"/>
            <a:ext cx="8266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000"/>
              <a:buFont typeface="Inter"/>
              <a:buNone/>
            </a:pPr>
            <a:r>
              <a:rPr b="1" lang="ru" sz="1700">
                <a:solidFill>
                  <a:schemeClr val="lt1"/>
                </a:solidFill>
              </a:rPr>
              <a:t>START сильнее реагирует на маркетинговые кампании, чем PRO</a:t>
            </a:r>
            <a:endParaRPr b="1" i="0" sz="2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8353267" y="260604"/>
            <a:ext cx="4252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4/10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288025" y="1112204"/>
            <a:ext cx="1405800" cy="290400"/>
          </a:xfrm>
          <a:prstGeom prst="roundRect">
            <a:avLst>
              <a:gd fmla="val 37500" name="adj"/>
            </a:avLst>
          </a:prstGeom>
          <a:solidFill>
            <a:srgbClr val="35151C"/>
          </a:solidFill>
          <a:ln cap="flat" cmpd="sng" w="16800">
            <a:solidFill>
              <a:srgbClr val="3515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700" lIns="90700" spcFirstLastPara="1" rIns="90700" wrap="square" tIns="90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"/>
          <p:cNvSpPr txBox="1"/>
          <p:nvPr/>
        </p:nvSpPr>
        <p:spPr>
          <a:xfrm>
            <a:off x="360605" y="1153025"/>
            <a:ext cx="12612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ct val="50000"/>
              <a:buFont typeface="Inter"/>
              <a:buNone/>
            </a:pPr>
            <a:r>
              <a:rPr lang="ru" sz="1587">
                <a:solidFill>
                  <a:srgbClr val="F22D49"/>
                </a:solidFill>
              </a:rPr>
              <a:t>START vs PRO</a:t>
            </a:r>
            <a:endParaRPr b="0" i="0" sz="794" u="none" cap="none" strike="noStrike">
              <a:solidFill>
                <a:srgbClr val="F22D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4389226" y="1114575"/>
            <a:ext cx="1873800" cy="288000"/>
          </a:xfrm>
          <a:prstGeom prst="roundRect">
            <a:avLst>
              <a:gd fmla="val 37500" name="adj"/>
            </a:avLst>
          </a:prstGeom>
          <a:solidFill>
            <a:srgbClr val="14243A"/>
          </a:solidFill>
          <a:ln cap="flat" cmpd="sng" w="16650">
            <a:solidFill>
              <a:srgbClr val="1424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0"/>
          <p:cNvSpPr txBox="1"/>
          <p:nvPr/>
        </p:nvSpPr>
        <p:spPr>
          <a:xfrm>
            <a:off x="4425225" y="1159575"/>
            <a:ext cx="1801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C2FF"/>
              </a:buClr>
              <a:buSzPts val="787"/>
              <a:buFont typeface="Inter"/>
              <a:buNone/>
            </a:pPr>
            <a:r>
              <a:rPr lang="ru" sz="1300">
                <a:solidFill>
                  <a:srgbClr val="55C2FF"/>
                </a:solidFill>
              </a:rPr>
              <a:t>START ПО КУРСАМ</a:t>
            </a:r>
            <a:endParaRPr b="0" i="0" sz="1300" u="none" cap="none" strike="noStrike">
              <a:solidFill>
                <a:srgbClr val="55C2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425200" y="4224522"/>
            <a:ext cx="3806700" cy="772500"/>
          </a:xfrm>
          <a:prstGeom prst="roundRect">
            <a:avLst>
              <a:gd fmla="val 15517" name="adj"/>
            </a:avLst>
          </a:prstGeom>
          <a:solidFill>
            <a:srgbClr val="11161B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 flipH="1">
            <a:off x="425199" y="4224525"/>
            <a:ext cx="34200" cy="772500"/>
          </a:xfrm>
          <a:prstGeom prst="roundRect">
            <a:avLst>
              <a:gd fmla="val 40000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 txBox="1"/>
          <p:nvPr/>
        </p:nvSpPr>
        <p:spPr>
          <a:xfrm>
            <a:off x="522550" y="4294435"/>
            <a:ext cx="36120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lt1"/>
                </a:solidFill>
              </a:rPr>
              <a:t>Во время кампаний средние продажи PRO растут с 4,0 до 19,7 в день, а START — с 4,5 до 46,3.</a:t>
            </a:r>
            <a:endParaRPr b="1"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lang="ru" sz="1200">
                <a:solidFill>
                  <a:schemeClr val="lt1"/>
                </a:solidFill>
              </a:rPr>
              <a:t>В абсолютном выражении </a:t>
            </a:r>
            <a:r>
              <a:rPr lang="ru" sz="1200">
                <a:solidFill>
                  <a:srgbClr val="F22D49"/>
                </a:solidFill>
              </a:rPr>
              <a:t>отклик START значительно сильнее</a:t>
            </a:r>
            <a:r>
              <a:rPr lang="ru" sz="1200">
                <a:solidFill>
                  <a:schemeClr val="lt1"/>
                </a:solidFill>
              </a:rPr>
              <a:t>.</a:t>
            </a:r>
            <a:endParaRPr b="1"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4787000" y="4072125"/>
            <a:ext cx="3806700" cy="924900"/>
          </a:xfrm>
          <a:prstGeom prst="roundRect">
            <a:avLst>
              <a:gd fmla="val 15517" name="adj"/>
            </a:avLst>
          </a:prstGeom>
          <a:solidFill>
            <a:srgbClr val="11161B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4787100" y="4072125"/>
            <a:ext cx="34200" cy="924900"/>
          </a:xfrm>
          <a:prstGeom prst="roundRect">
            <a:avLst>
              <a:gd fmla="val 40000" name="adj"/>
            </a:avLst>
          </a:prstGeom>
          <a:solidFill>
            <a:srgbClr val="55C2FF"/>
          </a:solidFill>
          <a:ln cap="flat" cmpd="sng" w="12700">
            <a:solidFill>
              <a:srgbClr val="55C2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4911500" y="4175485"/>
            <a:ext cx="35577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500"/>
              <a:buFont typeface="Inter"/>
              <a:buNone/>
            </a:pPr>
            <a:r>
              <a:rPr lang="ru" sz="1000">
                <a:solidFill>
                  <a:schemeClr val="lt1"/>
                </a:solidFill>
              </a:rPr>
              <a:t>Рост START не связан с одним отдельным продуктом: во время кампании продажи увеличиваются по всем четырём курсам. </a:t>
            </a:r>
            <a:r>
              <a:rPr lang="ru" sz="1000">
                <a:solidFill>
                  <a:srgbClr val="55C2FF"/>
                </a:solidFill>
              </a:rPr>
              <a:t>START - кандидат для маркетингового продвижения</a:t>
            </a:r>
            <a:r>
              <a:rPr lang="ru" sz="1000">
                <a:solidFill>
                  <a:schemeClr val="lt1"/>
                </a:solidFill>
              </a:rPr>
              <a:t> в следующем запуске; эффект нужно подтвердить через tracking и incremental-тест.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420" name="Google Shape;4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25" y="1440175"/>
            <a:ext cx="4094249" cy="263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6950" y="1402450"/>
            <a:ext cx="4684651" cy="26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1"/>
          <p:cNvSpPr/>
          <p:nvPr/>
        </p:nvSpPr>
        <p:spPr>
          <a:xfrm>
            <a:off x="356626" y="205740"/>
            <a:ext cx="1063018" cy="233172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"/>
          <p:cNvSpPr txBox="1"/>
          <p:nvPr/>
        </p:nvSpPr>
        <p:spPr>
          <a:xfrm>
            <a:off x="425207" y="233172"/>
            <a:ext cx="92585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377200" y="562350"/>
            <a:ext cx="83463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000"/>
              <a:buFont typeface="Inter"/>
              <a:buNone/>
            </a:pPr>
            <a:r>
              <a:rPr b="1" lang="ru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START можно масштабировать, PRO — продвигать выборочно</a:t>
            </a:r>
            <a:endParaRPr b="1" i="0" sz="2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>
            <a:off x="8353267" y="260604"/>
            <a:ext cx="4252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5/10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411491" y="1316736"/>
            <a:ext cx="3950313" cy="3113532"/>
          </a:xfrm>
          <a:prstGeom prst="roundRect">
            <a:avLst>
              <a:gd fmla="val 2643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576087" y="1481328"/>
            <a:ext cx="1179607" cy="219456"/>
          </a:xfrm>
          <a:prstGeom prst="roundRect">
            <a:avLst>
              <a:gd fmla="val 37500" name="adj"/>
            </a:avLst>
          </a:prstGeom>
          <a:solidFill>
            <a:srgbClr val="35151C"/>
          </a:solidFill>
          <a:ln cap="flat" cmpd="sng" w="12700">
            <a:solidFill>
              <a:srgbClr val="3515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1"/>
          <p:cNvSpPr txBox="1"/>
          <p:nvPr/>
        </p:nvSpPr>
        <p:spPr>
          <a:xfrm>
            <a:off x="630953" y="1512189"/>
            <a:ext cx="106987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5B6E"/>
                </a:solidFill>
                <a:latin typeface="Inter"/>
                <a:ea typeface="Inter"/>
                <a:cs typeface="Inter"/>
                <a:sym typeface="Inter"/>
              </a:rPr>
              <a:t>START • 8–10 августа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576087" y="1748790"/>
            <a:ext cx="181741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0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Δ покупок / день vs before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589804" y="2091690"/>
            <a:ext cx="117960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Алгоритмы START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1824277" y="2119122"/>
            <a:ext cx="1817418" cy="164592"/>
          </a:xfrm>
          <a:prstGeom prst="roundRect">
            <a:avLst>
              <a:gd fmla="val 20833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3737710" y="2091690"/>
            <a:ext cx="37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+16.33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589804" y="2571750"/>
            <a:ext cx="117960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0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Аналитика START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1824277" y="2599182"/>
            <a:ext cx="1298792" cy="164592"/>
          </a:xfrm>
          <a:prstGeom prst="roundRect">
            <a:avLst>
              <a:gd fmla="val 20833" name="adj"/>
            </a:avLst>
          </a:prstGeom>
          <a:solidFill>
            <a:srgbClr val="FF5B6E"/>
          </a:solidFill>
          <a:ln cap="flat" cmpd="sng" w="12700">
            <a:solidFill>
              <a:srgbClr val="FF5B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1"/>
          <p:cNvSpPr txBox="1"/>
          <p:nvPr/>
        </p:nvSpPr>
        <p:spPr>
          <a:xfrm>
            <a:off x="3737710" y="2571750"/>
            <a:ext cx="37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+11.67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589804" y="3051810"/>
            <a:ext cx="117960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0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ML START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21"/>
          <p:cNvSpPr/>
          <p:nvPr/>
        </p:nvSpPr>
        <p:spPr>
          <a:xfrm>
            <a:off x="1824277" y="3079242"/>
            <a:ext cx="1112932" cy="164592"/>
          </a:xfrm>
          <a:prstGeom prst="roundRect">
            <a:avLst>
              <a:gd fmla="val 20833" name="adj"/>
            </a:avLst>
          </a:prstGeom>
          <a:solidFill>
            <a:srgbClr val="FF5B6E"/>
          </a:solidFill>
          <a:ln cap="flat" cmpd="sng" w="12700">
            <a:solidFill>
              <a:srgbClr val="FF5B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3737710" y="3051810"/>
            <a:ext cx="37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+10.00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589804" y="3531870"/>
            <a:ext cx="117960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0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Backend START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1824277" y="3559302"/>
            <a:ext cx="704486" cy="164592"/>
          </a:xfrm>
          <a:prstGeom prst="roundRect">
            <a:avLst>
              <a:gd fmla="val 20833" name="adj"/>
            </a:avLst>
          </a:prstGeom>
          <a:solidFill>
            <a:srgbClr val="FF5B6E"/>
          </a:solidFill>
          <a:ln cap="flat" cmpd="sng" w="12700">
            <a:solidFill>
              <a:srgbClr val="FF5B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"/>
          <p:cNvSpPr txBox="1"/>
          <p:nvPr/>
        </p:nvSpPr>
        <p:spPr>
          <a:xfrm>
            <a:off x="3737710" y="3531870"/>
            <a:ext cx="37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+6.33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589804" y="4101084"/>
            <a:ext cx="589804" cy="219456"/>
          </a:xfrm>
          <a:prstGeom prst="roundRect">
            <a:avLst>
              <a:gd fmla="val 37500" name="adj"/>
            </a:avLst>
          </a:prstGeom>
          <a:solidFill>
            <a:srgbClr val="1C222A"/>
          </a:solidFill>
          <a:ln cap="flat" cmpd="sng" w="12700">
            <a:solidFill>
              <a:srgbClr val="1C2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"/>
          <p:cNvSpPr txBox="1"/>
          <p:nvPr/>
        </p:nvSpPr>
        <p:spPr>
          <a:xfrm>
            <a:off x="644669" y="4131945"/>
            <a:ext cx="480073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21 events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1261906" y="4101084"/>
            <a:ext cx="658386" cy="219456"/>
          </a:xfrm>
          <a:prstGeom prst="roundRect">
            <a:avLst>
              <a:gd fmla="val 37500" name="adj"/>
            </a:avLst>
          </a:prstGeom>
          <a:solidFill>
            <a:srgbClr val="1C222A"/>
          </a:solidFill>
          <a:ln cap="flat" cmpd="sng" w="12700">
            <a:solidFill>
              <a:srgbClr val="1C2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1"/>
          <p:cNvSpPr txBox="1"/>
          <p:nvPr/>
        </p:nvSpPr>
        <p:spPr>
          <a:xfrm>
            <a:off x="1316771" y="4131945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8 channels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2002589" y="4101084"/>
            <a:ext cx="809266" cy="219456"/>
          </a:xfrm>
          <a:prstGeom prst="roundRect">
            <a:avLst>
              <a:gd fmla="val 37500" name="adj"/>
            </a:avLst>
          </a:prstGeom>
          <a:solidFill>
            <a:srgbClr val="1C222A"/>
          </a:solidFill>
          <a:ln cap="flat" cmpd="sng" w="12700">
            <a:solidFill>
              <a:srgbClr val="1C2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1"/>
          <p:cNvSpPr txBox="1"/>
          <p:nvPr/>
        </p:nvSpPr>
        <p:spPr>
          <a:xfrm>
            <a:off x="2057455" y="4131945"/>
            <a:ext cx="69953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131.7k views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4540117" y="1316736"/>
            <a:ext cx="4183492" cy="3113532"/>
          </a:xfrm>
          <a:prstGeom prst="roundRect">
            <a:avLst>
              <a:gd fmla="val 2643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1"/>
          <p:cNvSpPr/>
          <p:nvPr/>
        </p:nvSpPr>
        <p:spPr>
          <a:xfrm>
            <a:off x="4704713" y="1481328"/>
            <a:ext cx="973862" cy="219456"/>
          </a:xfrm>
          <a:prstGeom prst="roundRect">
            <a:avLst>
              <a:gd fmla="val 37500" name="adj"/>
            </a:avLst>
          </a:prstGeom>
          <a:solidFill>
            <a:srgbClr val="241C3A"/>
          </a:solidFill>
          <a:ln cap="flat" cmpd="sng" w="12700">
            <a:solidFill>
              <a:srgbClr val="241C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1"/>
          <p:cNvSpPr txBox="1"/>
          <p:nvPr/>
        </p:nvSpPr>
        <p:spPr>
          <a:xfrm>
            <a:off x="4759579" y="1512189"/>
            <a:ext cx="86413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B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7BFF"/>
                </a:solidFill>
                <a:latin typeface="Inter"/>
                <a:ea typeface="Inter"/>
                <a:cs typeface="Inter"/>
                <a:sym typeface="Inter"/>
              </a:rPr>
              <a:t>PRO • две волны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4704713" y="1748790"/>
            <a:ext cx="144021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0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Δ покупок / день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5832886" y="1755653"/>
            <a:ext cx="480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5B8DEF"/>
                </a:solidFill>
                <a:latin typeface="Inter"/>
                <a:ea typeface="Inter"/>
                <a:cs typeface="Inter"/>
                <a:sym typeface="Inter"/>
              </a:rPr>
              <a:t>wave 1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7182787" y="1762515"/>
            <a:ext cx="480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B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7BFF"/>
                </a:solidFill>
                <a:latin typeface="Inter"/>
                <a:ea typeface="Inter"/>
                <a:cs typeface="Inter"/>
                <a:sym typeface="Inter"/>
              </a:rPr>
              <a:t>wave 2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>
            <a:off x="4718430" y="2057400"/>
            <a:ext cx="1015011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None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AI-агенты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5507123" y="2125990"/>
            <a:ext cx="1062900" cy="123300"/>
          </a:xfrm>
          <a:prstGeom prst="roundRect">
            <a:avLst>
              <a:gd fmla="val 22222" name="adj"/>
            </a:avLst>
          </a:prstGeom>
          <a:solidFill>
            <a:srgbClr val="5B8DEF"/>
          </a:solidFill>
          <a:ln cap="flat" cmpd="sng" w="12700">
            <a:solidFill>
              <a:srgbClr val="5B8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1"/>
          <p:cNvSpPr/>
          <p:nvPr/>
        </p:nvSpPr>
        <p:spPr>
          <a:xfrm>
            <a:off x="6940481" y="2091690"/>
            <a:ext cx="3783" cy="123444"/>
          </a:xfrm>
          <a:prstGeom prst="roundRect">
            <a:avLst>
              <a:gd fmla="val 725139" name="adj"/>
            </a:avLst>
          </a:prstGeom>
          <a:solidFill>
            <a:srgbClr val="9A7BFF"/>
          </a:solidFill>
          <a:ln cap="flat" cmpd="sng" w="12700">
            <a:solidFill>
              <a:srgbClr val="9A7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1"/>
          <p:cNvSpPr txBox="1"/>
          <p:nvPr/>
        </p:nvSpPr>
        <p:spPr>
          <a:xfrm>
            <a:off x="6618146" y="2057400"/>
            <a:ext cx="27432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5.62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8065223" y="2057400"/>
            <a:ext cx="30861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0.02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4718430" y="2434590"/>
            <a:ext cx="1015011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None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5507123" y="2468818"/>
            <a:ext cx="351900" cy="123300"/>
          </a:xfrm>
          <a:prstGeom prst="roundRect">
            <a:avLst>
              <a:gd fmla="val 22222" name="adj"/>
            </a:avLst>
          </a:prstGeom>
          <a:solidFill>
            <a:srgbClr val="5B8DEF"/>
          </a:solidFill>
          <a:ln cap="flat" cmpd="sng" w="12700">
            <a:solidFill>
              <a:srgbClr val="5B8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1"/>
          <p:cNvSpPr/>
          <p:nvPr/>
        </p:nvSpPr>
        <p:spPr>
          <a:xfrm>
            <a:off x="6940481" y="2468880"/>
            <a:ext cx="724441" cy="123444"/>
          </a:xfrm>
          <a:prstGeom prst="roundRect">
            <a:avLst>
              <a:gd fmla="val 22222" name="adj"/>
            </a:avLst>
          </a:prstGeom>
          <a:solidFill>
            <a:srgbClr val="9A7BFF"/>
          </a:solidFill>
          <a:ln cap="flat" cmpd="sng" w="12700">
            <a:solidFill>
              <a:srgbClr val="9A7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1"/>
          <p:cNvSpPr txBox="1"/>
          <p:nvPr/>
        </p:nvSpPr>
        <p:spPr>
          <a:xfrm>
            <a:off x="6618146" y="2434590"/>
            <a:ext cx="27432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1.86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8065223" y="2434590"/>
            <a:ext cx="30861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3.83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4718430" y="2811780"/>
            <a:ext cx="1015011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None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ML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5507123" y="2839208"/>
            <a:ext cx="590100" cy="123300"/>
          </a:xfrm>
          <a:prstGeom prst="roundRect">
            <a:avLst>
              <a:gd fmla="val 22222" name="adj"/>
            </a:avLst>
          </a:prstGeom>
          <a:solidFill>
            <a:srgbClr val="5B8DEF"/>
          </a:solidFill>
          <a:ln cap="flat" cmpd="sng" w="12700">
            <a:solidFill>
              <a:srgbClr val="5B8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6940481" y="2846070"/>
            <a:ext cx="964661" cy="123444"/>
          </a:xfrm>
          <a:prstGeom prst="roundRect">
            <a:avLst>
              <a:gd fmla="val 22222" name="adj"/>
            </a:avLst>
          </a:prstGeom>
          <a:solidFill>
            <a:srgbClr val="9A7BFF"/>
          </a:solidFill>
          <a:ln cap="flat" cmpd="sng" w="12700">
            <a:solidFill>
              <a:srgbClr val="9A7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1"/>
          <p:cNvSpPr txBox="1"/>
          <p:nvPr/>
        </p:nvSpPr>
        <p:spPr>
          <a:xfrm>
            <a:off x="6618146" y="2811780"/>
            <a:ext cx="27432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3.12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8065223" y="2811780"/>
            <a:ext cx="30861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5.10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21"/>
          <p:cNvSpPr txBox="1"/>
          <p:nvPr/>
        </p:nvSpPr>
        <p:spPr>
          <a:xfrm>
            <a:off x="4718430" y="3188970"/>
            <a:ext cx="1015011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None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Алгоритмы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5507123" y="3216410"/>
            <a:ext cx="236400" cy="123300"/>
          </a:xfrm>
          <a:prstGeom prst="roundRect">
            <a:avLst>
              <a:gd fmla="val 22222" name="adj"/>
            </a:avLst>
          </a:prstGeom>
          <a:solidFill>
            <a:srgbClr val="5B8DEF"/>
          </a:solidFill>
          <a:ln cap="flat" cmpd="sng" w="12700">
            <a:solidFill>
              <a:srgbClr val="5B8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"/>
          <p:cNvSpPr/>
          <p:nvPr/>
        </p:nvSpPr>
        <p:spPr>
          <a:xfrm>
            <a:off x="6940481" y="3223260"/>
            <a:ext cx="279940" cy="123444"/>
          </a:xfrm>
          <a:prstGeom prst="roundRect">
            <a:avLst>
              <a:gd fmla="val 22222" name="adj"/>
            </a:avLst>
          </a:prstGeom>
          <a:solidFill>
            <a:srgbClr val="9A7BFF"/>
          </a:solidFill>
          <a:ln cap="flat" cmpd="sng" w="12700">
            <a:solidFill>
              <a:srgbClr val="9A7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"/>
          <p:cNvSpPr txBox="1"/>
          <p:nvPr/>
        </p:nvSpPr>
        <p:spPr>
          <a:xfrm>
            <a:off x="6618146" y="3188970"/>
            <a:ext cx="27432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1.25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1"/>
          <p:cNvSpPr txBox="1"/>
          <p:nvPr/>
        </p:nvSpPr>
        <p:spPr>
          <a:xfrm>
            <a:off x="8065223" y="3188970"/>
            <a:ext cx="30861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1.48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4718430" y="3566160"/>
            <a:ext cx="1015011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None/>
            </a:pPr>
            <a:r>
              <a:rPr b="0" i="0" lang="ru" sz="7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Аналитика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5507123" y="3566150"/>
            <a:ext cx="412200" cy="123300"/>
          </a:xfrm>
          <a:prstGeom prst="roundRect">
            <a:avLst>
              <a:gd fmla="val 22222" name="adj"/>
            </a:avLst>
          </a:prstGeom>
          <a:solidFill>
            <a:srgbClr val="5B8DEF"/>
          </a:solidFill>
          <a:ln cap="flat" cmpd="sng" w="12700">
            <a:solidFill>
              <a:srgbClr val="5B8D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1"/>
          <p:cNvSpPr/>
          <p:nvPr/>
        </p:nvSpPr>
        <p:spPr>
          <a:xfrm>
            <a:off x="6940481" y="3600450"/>
            <a:ext cx="743356" cy="123444"/>
          </a:xfrm>
          <a:prstGeom prst="roundRect">
            <a:avLst>
              <a:gd fmla="val 22222" name="adj"/>
            </a:avLst>
          </a:prstGeom>
          <a:solidFill>
            <a:srgbClr val="9A7BFF"/>
          </a:solidFill>
          <a:ln cap="flat" cmpd="sng" w="12700">
            <a:solidFill>
              <a:srgbClr val="9A7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1"/>
          <p:cNvSpPr txBox="1"/>
          <p:nvPr/>
        </p:nvSpPr>
        <p:spPr>
          <a:xfrm>
            <a:off x="6618146" y="3566160"/>
            <a:ext cx="27432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2.18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21"/>
          <p:cNvSpPr txBox="1"/>
          <p:nvPr/>
        </p:nvSpPr>
        <p:spPr>
          <a:xfrm>
            <a:off x="8065223" y="3566160"/>
            <a:ext cx="30861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3.93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4718430" y="4101084"/>
            <a:ext cx="987578" cy="219456"/>
          </a:xfrm>
          <a:prstGeom prst="roundRect">
            <a:avLst>
              <a:gd fmla="val 37500" name="adj"/>
            </a:avLst>
          </a:prstGeom>
          <a:solidFill>
            <a:srgbClr val="1C222A"/>
          </a:solidFill>
          <a:ln cap="flat" cmpd="sng" w="12700">
            <a:solidFill>
              <a:srgbClr val="1C2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1"/>
          <p:cNvSpPr txBox="1"/>
          <p:nvPr/>
        </p:nvSpPr>
        <p:spPr>
          <a:xfrm>
            <a:off x="4773295" y="4131945"/>
            <a:ext cx="877847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W1: 144.2k views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5802023" y="4101084"/>
            <a:ext cx="960146" cy="219456"/>
          </a:xfrm>
          <a:prstGeom prst="roundRect">
            <a:avLst>
              <a:gd fmla="val 37500" name="adj"/>
            </a:avLst>
          </a:prstGeom>
          <a:solidFill>
            <a:srgbClr val="1C222A"/>
          </a:solidFill>
          <a:ln cap="flat" cmpd="sng" w="12700">
            <a:solidFill>
              <a:srgbClr val="1C2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1"/>
          <p:cNvSpPr txBox="1"/>
          <p:nvPr/>
        </p:nvSpPr>
        <p:spPr>
          <a:xfrm>
            <a:off x="5856888" y="4131945"/>
            <a:ext cx="85041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W2: 93.5k views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483350" y="4505700"/>
            <a:ext cx="8150400" cy="415800"/>
          </a:xfrm>
          <a:prstGeom prst="roundRect">
            <a:avLst>
              <a:gd fmla="val 19565" name="adj"/>
            </a:avLst>
          </a:prstGeom>
          <a:solidFill>
            <a:srgbClr val="11161B"/>
          </a:solidFill>
          <a:ln cap="flat" cmpd="sng" w="1675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1"/>
          <p:cNvSpPr/>
          <p:nvPr/>
        </p:nvSpPr>
        <p:spPr>
          <a:xfrm>
            <a:off x="483350" y="4505700"/>
            <a:ext cx="56100" cy="415800"/>
          </a:xfrm>
          <a:prstGeom prst="roundRect">
            <a:avLst>
              <a:gd fmla="val 40000" name="adj"/>
            </a:avLst>
          </a:prstGeom>
          <a:solidFill>
            <a:srgbClr val="F4C95D"/>
          </a:solidFill>
          <a:ln cap="flat" cmpd="sng" w="16750">
            <a:solidFill>
              <a:srgbClr val="F4C9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375" lIns="90375" spcFirstLastPara="1" rIns="90375" wrap="square" tIns="9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1"/>
          <p:cNvSpPr txBox="1"/>
          <p:nvPr/>
        </p:nvSpPr>
        <p:spPr>
          <a:xfrm>
            <a:off x="662485" y="4578013"/>
            <a:ext cx="78372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ct val="87868"/>
              <a:buFont typeface="Inter"/>
              <a:buNone/>
            </a:pPr>
            <a:r>
              <a:rPr lang="ru" sz="1200">
                <a:solidFill>
                  <a:schemeClr val="lt1"/>
                </a:solidFill>
              </a:rPr>
              <a:t>Вывод: START показывает более устойчивый отклик по всей линейке, тогда как у PRO эффект сильно зависит от конкретного курса и маркетинговой кампании.</a:t>
            </a:r>
            <a:endParaRPr i="0" sz="1054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2"/>
          <p:cNvSpPr/>
          <p:nvPr/>
        </p:nvSpPr>
        <p:spPr>
          <a:xfrm>
            <a:off x="356626" y="205740"/>
            <a:ext cx="1063018" cy="233172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425207" y="233172"/>
            <a:ext cx="92585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22"/>
          <p:cNvSpPr txBox="1"/>
          <p:nvPr/>
        </p:nvSpPr>
        <p:spPr>
          <a:xfrm>
            <a:off x="377200" y="562356"/>
            <a:ext cx="788691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000"/>
              <a:buFont typeface="Inter"/>
              <a:buNone/>
            </a:pPr>
            <a:r>
              <a:rPr b="1" lang="ru" sz="2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Маркетинг и продажи связаны во времени, но…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9" name="Google Shape;499;p22"/>
          <p:cNvSpPr txBox="1"/>
          <p:nvPr/>
        </p:nvSpPr>
        <p:spPr>
          <a:xfrm>
            <a:off x="377208" y="1052709"/>
            <a:ext cx="8024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800"/>
              <a:buFont typeface="Inter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Восстановили 210 событий и провели продажи в окнах D-3 … D-7 вокруг активности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8353267" y="260604"/>
            <a:ext cx="4252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9/10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5335666" y="1426464"/>
            <a:ext cx="1453935" cy="672084"/>
          </a:xfrm>
          <a:prstGeom prst="roundRect">
            <a:avLst>
              <a:gd fmla="val 12245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2"/>
          <p:cNvSpPr txBox="1"/>
          <p:nvPr/>
        </p:nvSpPr>
        <p:spPr>
          <a:xfrm>
            <a:off x="5445397" y="1495044"/>
            <a:ext cx="1234473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800"/>
              <a:buFont typeface="Inter"/>
              <a:buNone/>
            </a:pPr>
            <a:r>
              <a:rPr b="1" lang="ru" sz="1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D0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5445397" y="1817370"/>
            <a:ext cx="12344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lang="ru" sz="7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есть пик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5335666" y="1426464"/>
            <a:ext cx="34291" cy="672084"/>
          </a:xfrm>
          <a:prstGeom prst="roundRect">
            <a:avLst>
              <a:gd fmla="val 40000" name="adj"/>
            </a:avLst>
          </a:prstGeom>
          <a:solidFill>
            <a:srgbClr val="55C2FF"/>
          </a:solidFill>
          <a:ln cap="flat" cmpd="sng" w="12700">
            <a:solidFill>
              <a:srgbClr val="55C2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2"/>
          <p:cNvSpPr/>
          <p:nvPr/>
        </p:nvSpPr>
        <p:spPr>
          <a:xfrm>
            <a:off x="6961056" y="1426464"/>
            <a:ext cx="1453935" cy="672084"/>
          </a:xfrm>
          <a:prstGeom prst="roundRect">
            <a:avLst>
              <a:gd fmla="val 12245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2"/>
          <p:cNvSpPr txBox="1"/>
          <p:nvPr/>
        </p:nvSpPr>
        <p:spPr>
          <a:xfrm>
            <a:off x="7070786" y="1495044"/>
            <a:ext cx="1234473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800"/>
              <a:buFont typeface="Inter"/>
              <a:buNone/>
            </a:pPr>
            <a:r>
              <a:rPr b="1" lang="ru" sz="1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pre-trend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7070786" y="1817370"/>
            <a:ext cx="12344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ct val="100000"/>
              <a:buFont typeface="Inter"/>
              <a:buNone/>
            </a:pPr>
            <a:r>
              <a:rPr lang="ru" sz="7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продажи растут до рекламы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6961056" y="1426464"/>
            <a:ext cx="34291" cy="672084"/>
          </a:xfrm>
          <a:prstGeom prst="roundRect">
            <a:avLst>
              <a:gd fmla="val 40000" name="adj"/>
            </a:avLst>
          </a:prstGeom>
          <a:solidFill>
            <a:srgbClr val="F4C95D"/>
          </a:solidFill>
          <a:ln cap="flat" cmpd="sng" w="12700">
            <a:solidFill>
              <a:srgbClr val="F4C9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2"/>
          <p:cNvSpPr/>
          <p:nvPr/>
        </p:nvSpPr>
        <p:spPr>
          <a:xfrm>
            <a:off x="5335675" y="2338577"/>
            <a:ext cx="3079200" cy="1729200"/>
          </a:xfrm>
          <a:prstGeom prst="roundRect">
            <a:avLst>
              <a:gd fmla="val 6410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"/>
          <p:cNvSpPr/>
          <p:nvPr/>
        </p:nvSpPr>
        <p:spPr>
          <a:xfrm>
            <a:off x="5500275" y="2517300"/>
            <a:ext cx="1570500" cy="219600"/>
          </a:xfrm>
          <a:prstGeom prst="roundRect">
            <a:avLst>
              <a:gd fmla="val 37500" name="adj"/>
            </a:avLst>
          </a:prstGeom>
          <a:solidFill>
            <a:srgbClr val="35151C"/>
          </a:solidFill>
          <a:ln cap="flat" cmpd="sng" w="12700">
            <a:solidFill>
              <a:srgbClr val="3515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2"/>
          <p:cNvSpPr txBox="1"/>
          <p:nvPr/>
        </p:nvSpPr>
        <p:spPr>
          <a:xfrm>
            <a:off x="5527727" y="2551650"/>
            <a:ext cx="1515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ts val="600"/>
              <a:buFont typeface="Inter"/>
              <a:buNone/>
            </a:pPr>
            <a:r>
              <a:rPr b="1" lang="ru" sz="600">
                <a:solidFill>
                  <a:srgbClr val="FF5B6E"/>
                </a:solidFill>
                <a:latin typeface="Inter"/>
                <a:ea typeface="Inter"/>
                <a:cs typeface="Inter"/>
                <a:sym typeface="Inter"/>
              </a:rPr>
              <a:t>самый сильный short-term signal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5500275" y="2924476"/>
            <a:ext cx="2688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lang="ru" sz="800">
                <a:solidFill>
                  <a:schemeClr val="lt1"/>
                </a:solidFill>
              </a:rPr>
              <a:t>Есть выраженный short-term signal: продажи чаще растут в день маркетингового события и сразу после него, особенно для промо со скидкой. Но это не causal effect: рост начинается ещё до D0, поэтому по текущим данным нельзя утверждать, что именно маркетинг вызвал дополнительные продажи.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630948" y="4320559"/>
            <a:ext cx="7722300" cy="612600"/>
          </a:xfrm>
          <a:prstGeom prst="roundRect">
            <a:avLst>
              <a:gd fmla="val 18750" name="adj"/>
            </a:avLst>
          </a:prstGeom>
          <a:solidFill>
            <a:srgbClr val="11161B"/>
          </a:solidFill>
          <a:ln cap="flat" cmpd="sng" w="236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625" lIns="127625" spcFirstLastPara="1" rIns="127625" wrap="square" tIns="12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630948" y="4320559"/>
            <a:ext cx="63900" cy="612600"/>
          </a:xfrm>
          <a:prstGeom prst="roundRect">
            <a:avLst>
              <a:gd fmla="val 40000" name="adj"/>
            </a:avLst>
          </a:prstGeom>
          <a:solidFill>
            <a:srgbClr val="33D17A"/>
          </a:solidFill>
          <a:ln cap="flat" cmpd="sng" w="23625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625" lIns="127625" spcFirstLastPara="1" rIns="127625" wrap="square" tIns="12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2"/>
          <p:cNvSpPr txBox="1"/>
          <p:nvPr/>
        </p:nvSpPr>
        <p:spPr>
          <a:xfrm>
            <a:off x="835174" y="4422666"/>
            <a:ext cx="7365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ct val="63636"/>
              <a:buFont typeface="Inter"/>
              <a:buNone/>
            </a:pPr>
            <a:r>
              <a:rPr b="1" lang="ru" sz="2047">
                <a:solidFill>
                  <a:srgbClr val="33D17A"/>
                </a:solidFill>
              </a:rPr>
              <a:t>Главное наблюдение:</a:t>
            </a:r>
            <a:r>
              <a:rPr lang="ru" sz="2047">
                <a:solidFill>
                  <a:schemeClr val="lt1"/>
                </a:solidFill>
              </a:rPr>
              <a:t> маркетинг сопровождается краткосрочным ростом продаж, но текущие данные не позволяют отделить эффект рекламы от общего роста спроса.</a:t>
            </a:r>
            <a:endParaRPr b="0" i="0" sz="1303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6" name="Google Shape;516;p22" title="ChatGPT Image 12 сент. 2026 г., 22_15_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25" y="1426559"/>
            <a:ext cx="4801591" cy="2702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3"/>
          <p:cNvSpPr/>
          <p:nvPr/>
        </p:nvSpPr>
        <p:spPr>
          <a:xfrm>
            <a:off x="356626" y="205740"/>
            <a:ext cx="1063018" cy="233172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3"/>
          <p:cNvSpPr txBox="1"/>
          <p:nvPr/>
        </p:nvSpPr>
        <p:spPr>
          <a:xfrm>
            <a:off x="425207" y="233172"/>
            <a:ext cx="92585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23"/>
          <p:cNvSpPr txBox="1"/>
          <p:nvPr/>
        </p:nvSpPr>
        <p:spPr>
          <a:xfrm>
            <a:off x="377200" y="562356"/>
            <a:ext cx="788691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ct val="100000"/>
              <a:buFont typeface="Inter"/>
              <a:buNone/>
            </a:pPr>
            <a:r>
              <a:rPr b="1" i="0" lang="ru" sz="2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Measurement system — как убрать black box со следующего запуска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384058" y="939546"/>
            <a:ext cx="802407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800"/>
              <a:buFont typeface="Inter"/>
              <a:buNone/>
            </a:pPr>
            <a:r>
              <a:rPr b="0" i="0" lang="ru" sz="8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Система должна фиксировать источник до покупки и сохранять ключи между этапами.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6" name="Google Shape;526;p23"/>
          <p:cNvSpPr txBox="1"/>
          <p:nvPr/>
        </p:nvSpPr>
        <p:spPr>
          <a:xfrm>
            <a:off x="8353267" y="260604"/>
            <a:ext cx="4252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6/10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425207" y="1289304"/>
            <a:ext cx="809266" cy="219456"/>
          </a:xfrm>
          <a:prstGeom prst="roundRect">
            <a:avLst>
              <a:gd fmla="val 37500" name="adj"/>
            </a:avLst>
          </a:prstGeom>
          <a:solidFill>
            <a:srgbClr val="35151C"/>
          </a:solidFill>
          <a:ln cap="flat" cmpd="sng" w="12700">
            <a:solidFill>
              <a:srgbClr val="3515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3"/>
          <p:cNvSpPr txBox="1"/>
          <p:nvPr/>
        </p:nvSpPr>
        <p:spPr>
          <a:xfrm>
            <a:off x="480073" y="1320165"/>
            <a:ext cx="69953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5B6E"/>
                </a:solidFill>
                <a:latin typeface="Inter"/>
                <a:ea typeface="Inter"/>
                <a:cs typeface="Inter"/>
                <a:sym typeface="Inter"/>
              </a:rPr>
              <a:t>1 • REGISTER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2914728" y="1289304"/>
            <a:ext cx="1111026" cy="219456"/>
          </a:xfrm>
          <a:prstGeom prst="roundRect">
            <a:avLst>
              <a:gd fmla="val 37500" name="adj"/>
            </a:avLst>
          </a:prstGeom>
          <a:solidFill>
            <a:srgbClr val="14243A"/>
          </a:solidFill>
          <a:ln cap="flat" cmpd="sng" w="12700">
            <a:solidFill>
              <a:srgbClr val="1424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3"/>
          <p:cNvSpPr txBox="1"/>
          <p:nvPr/>
        </p:nvSpPr>
        <p:spPr>
          <a:xfrm>
            <a:off x="2969593" y="1320165"/>
            <a:ext cx="100129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C2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55C2FF"/>
                </a:solidFill>
                <a:latin typeface="Inter"/>
                <a:ea typeface="Inter"/>
                <a:cs typeface="Inter"/>
                <a:sym typeface="Inter"/>
              </a:rPr>
              <a:t>2 • TRACK &amp; STITCH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5589419" y="1289304"/>
            <a:ext cx="781833" cy="219456"/>
          </a:xfrm>
          <a:prstGeom prst="roundRect">
            <a:avLst>
              <a:gd fmla="val 37500" name="adj"/>
            </a:avLst>
          </a:prstGeom>
          <a:solidFill>
            <a:srgbClr val="241C3A"/>
          </a:solidFill>
          <a:ln cap="flat" cmpd="sng" w="12700">
            <a:solidFill>
              <a:srgbClr val="241C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3"/>
          <p:cNvSpPr txBox="1"/>
          <p:nvPr/>
        </p:nvSpPr>
        <p:spPr>
          <a:xfrm>
            <a:off x="5644284" y="1320165"/>
            <a:ext cx="672102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B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7BFF"/>
                </a:solidFill>
                <a:latin typeface="Inter"/>
                <a:ea typeface="Inter"/>
                <a:cs typeface="Inter"/>
                <a:sym typeface="Inter"/>
              </a:rPr>
              <a:t>3 • CONVERT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7461703" y="1289304"/>
            <a:ext cx="726967" cy="219456"/>
          </a:xfrm>
          <a:prstGeom prst="roundRect">
            <a:avLst>
              <a:gd fmla="val 37500" name="adj"/>
            </a:avLst>
          </a:prstGeom>
          <a:solidFill>
            <a:srgbClr val="123021"/>
          </a:solidFill>
          <a:ln cap="flat" cmpd="sng" w="12700">
            <a:solidFill>
              <a:srgbClr val="12302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3"/>
          <p:cNvSpPr txBox="1"/>
          <p:nvPr/>
        </p:nvSpPr>
        <p:spPr>
          <a:xfrm>
            <a:off x="7516568" y="1320165"/>
            <a:ext cx="6172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17A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33D17A"/>
                </a:solidFill>
                <a:latin typeface="Inter"/>
                <a:ea typeface="Inter"/>
                <a:cs typeface="Inter"/>
                <a:sym typeface="Inter"/>
              </a:rPr>
              <a:t>4 • DECIDE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425207" y="1687068"/>
            <a:ext cx="836698" cy="685800"/>
          </a:xfrm>
          <a:prstGeom prst="roundRect">
            <a:avLst>
              <a:gd fmla="val 100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3"/>
          <p:cNvSpPr txBox="1"/>
          <p:nvPr/>
        </p:nvSpPr>
        <p:spPr>
          <a:xfrm>
            <a:off x="493789" y="1796796"/>
            <a:ext cx="69953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Campaign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Google Shape;537;p23"/>
          <p:cNvSpPr txBox="1"/>
          <p:nvPr/>
        </p:nvSpPr>
        <p:spPr>
          <a:xfrm>
            <a:off x="493789" y="2050542"/>
            <a:ext cx="69953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lang="ru" sz="6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goal • product line • dates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38" name="Google Shape;538;p23"/>
          <p:cNvCxnSpPr/>
          <p:nvPr/>
        </p:nvCxnSpPr>
        <p:spPr>
          <a:xfrm>
            <a:off x="1282480" y="2029968"/>
            <a:ext cx="123447" cy="0"/>
          </a:xfrm>
          <a:prstGeom prst="straightConnector1">
            <a:avLst/>
          </a:prstGeom>
          <a:noFill/>
          <a:ln cap="flat" cmpd="sng" w="19050">
            <a:solidFill>
              <a:srgbClr val="FF5B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9" name="Google Shape;539;p23"/>
          <p:cNvSpPr/>
          <p:nvPr/>
        </p:nvSpPr>
        <p:spPr>
          <a:xfrm>
            <a:off x="1357920" y="1687068"/>
            <a:ext cx="836698" cy="685800"/>
          </a:xfrm>
          <a:prstGeom prst="roundRect">
            <a:avLst>
              <a:gd fmla="val 100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3"/>
          <p:cNvSpPr txBox="1"/>
          <p:nvPr/>
        </p:nvSpPr>
        <p:spPr>
          <a:xfrm>
            <a:off x="1426502" y="1796796"/>
            <a:ext cx="69953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Placement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1426502" y="2050542"/>
            <a:ext cx="69953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ct val="100000"/>
              <a:buFont typeface="Inter"/>
              <a:buNone/>
            </a:pPr>
            <a:r>
              <a:rPr lang="ru" sz="6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channel • publication time • cost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42" name="Google Shape;542;p23"/>
          <p:cNvCxnSpPr/>
          <p:nvPr/>
        </p:nvCxnSpPr>
        <p:spPr>
          <a:xfrm>
            <a:off x="2215193" y="2029968"/>
            <a:ext cx="123447" cy="0"/>
          </a:xfrm>
          <a:prstGeom prst="straightConnector1">
            <a:avLst/>
          </a:prstGeom>
          <a:noFill/>
          <a:ln cap="flat" cmpd="sng" w="19050">
            <a:solidFill>
              <a:srgbClr val="FF5B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3" name="Google Shape;543;p23"/>
          <p:cNvSpPr/>
          <p:nvPr/>
        </p:nvSpPr>
        <p:spPr>
          <a:xfrm>
            <a:off x="2290633" y="1687068"/>
            <a:ext cx="836698" cy="685800"/>
          </a:xfrm>
          <a:prstGeom prst="roundRect">
            <a:avLst>
              <a:gd fmla="val 100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3"/>
          <p:cNvSpPr txBox="1"/>
          <p:nvPr/>
        </p:nvSpPr>
        <p:spPr>
          <a:xfrm>
            <a:off x="2359215" y="1796796"/>
            <a:ext cx="69953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Creative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5" name="Google Shape;545;p23"/>
          <p:cNvSpPr txBox="1"/>
          <p:nvPr/>
        </p:nvSpPr>
        <p:spPr>
          <a:xfrm>
            <a:off x="2359215" y="2050542"/>
            <a:ext cx="69953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lang="ru" sz="6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format • activity type • CTA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46" name="Google Shape;546;p23"/>
          <p:cNvCxnSpPr/>
          <p:nvPr/>
        </p:nvCxnSpPr>
        <p:spPr>
          <a:xfrm>
            <a:off x="3147906" y="2029968"/>
            <a:ext cx="123447" cy="0"/>
          </a:xfrm>
          <a:prstGeom prst="straightConnector1">
            <a:avLst/>
          </a:prstGeom>
          <a:noFill/>
          <a:ln cap="flat" cmpd="sng" w="19050">
            <a:solidFill>
              <a:srgbClr val="FF5B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7" name="Google Shape;547;p23"/>
          <p:cNvSpPr/>
          <p:nvPr/>
        </p:nvSpPr>
        <p:spPr>
          <a:xfrm>
            <a:off x="3305644" y="1687068"/>
            <a:ext cx="932713" cy="685800"/>
          </a:xfrm>
          <a:prstGeom prst="roundRect">
            <a:avLst>
              <a:gd fmla="val 100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"/>
          <p:cNvSpPr txBox="1"/>
          <p:nvPr/>
        </p:nvSpPr>
        <p:spPr>
          <a:xfrm>
            <a:off x="3374226" y="1796796"/>
            <a:ext cx="79554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Tracking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23"/>
          <p:cNvSpPr txBox="1"/>
          <p:nvPr/>
        </p:nvSpPr>
        <p:spPr>
          <a:xfrm>
            <a:off x="3374226" y="2050542"/>
            <a:ext cx="79554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lang="ru" sz="6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unique token • source mapping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50" name="Google Shape;550;p23"/>
          <p:cNvCxnSpPr/>
          <p:nvPr/>
        </p:nvCxnSpPr>
        <p:spPr>
          <a:xfrm>
            <a:off x="4258932" y="2029968"/>
            <a:ext cx="123447" cy="0"/>
          </a:xfrm>
          <a:prstGeom prst="straightConnector1">
            <a:avLst/>
          </a:prstGeom>
          <a:noFill/>
          <a:ln cap="flat" cmpd="sng" w="19050">
            <a:solidFill>
              <a:srgbClr val="55C2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1" name="Google Shape;551;p23"/>
          <p:cNvSpPr/>
          <p:nvPr/>
        </p:nvSpPr>
        <p:spPr>
          <a:xfrm>
            <a:off x="4334372" y="1687068"/>
            <a:ext cx="809266" cy="685800"/>
          </a:xfrm>
          <a:prstGeom prst="roundRect">
            <a:avLst>
              <a:gd fmla="val 100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3"/>
          <p:cNvSpPr txBox="1"/>
          <p:nvPr/>
        </p:nvSpPr>
        <p:spPr>
          <a:xfrm>
            <a:off x="4402953" y="1796796"/>
            <a:ext cx="67210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lang="ru" sz="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Bot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3" name="Google Shape;553;p23"/>
          <p:cNvSpPr txBox="1"/>
          <p:nvPr/>
        </p:nvSpPr>
        <p:spPr>
          <a:xfrm>
            <a:off x="4402953" y="2050542"/>
            <a:ext cx="672102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lang="ru" sz="6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bot_start • events • course choice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54" name="Google Shape;554;p23"/>
          <p:cNvCxnSpPr/>
          <p:nvPr/>
        </p:nvCxnSpPr>
        <p:spPr>
          <a:xfrm>
            <a:off x="5164212" y="2029968"/>
            <a:ext cx="123447" cy="0"/>
          </a:xfrm>
          <a:prstGeom prst="straightConnector1">
            <a:avLst/>
          </a:prstGeom>
          <a:noFill/>
          <a:ln cap="flat" cmpd="sng" w="19050">
            <a:solidFill>
              <a:srgbClr val="55C2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5" name="Google Shape;555;p23"/>
          <p:cNvSpPr/>
          <p:nvPr/>
        </p:nvSpPr>
        <p:spPr>
          <a:xfrm>
            <a:off x="5239652" y="1687068"/>
            <a:ext cx="809266" cy="685800"/>
          </a:xfrm>
          <a:prstGeom prst="roundRect">
            <a:avLst>
              <a:gd fmla="val 100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"/>
          <p:cNvSpPr txBox="1"/>
          <p:nvPr/>
        </p:nvSpPr>
        <p:spPr>
          <a:xfrm>
            <a:off x="5308234" y="1796796"/>
            <a:ext cx="67210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lang="ru" sz="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7" name="Google Shape;557;p23"/>
          <p:cNvSpPr txBox="1"/>
          <p:nvPr/>
        </p:nvSpPr>
        <p:spPr>
          <a:xfrm>
            <a:off x="5308234" y="2050542"/>
            <a:ext cx="672102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lang="ru" sz="6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hashed Telegram ID • first touch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58" name="Google Shape;558;p23"/>
          <p:cNvCxnSpPr/>
          <p:nvPr/>
        </p:nvCxnSpPr>
        <p:spPr>
          <a:xfrm>
            <a:off x="6069492" y="2029968"/>
            <a:ext cx="123447" cy="0"/>
          </a:xfrm>
          <a:prstGeom prst="straightConnector1">
            <a:avLst/>
          </a:prstGeom>
          <a:noFill/>
          <a:ln cap="flat" cmpd="sng" w="19050">
            <a:solidFill>
              <a:srgbClr val="55C2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9" name="Google Shape;559;p23"/>
          <p:cNvSpPr/>
          <p:nvPr/>
        </p:nvSpPr>
        <p:spPr>
          <a:xfrm>
            <a:off x="6144932" y="1687068"/>
            <a:ext cx="809266" cy="685800"/>
          </a:xfrm>
          <a:prstGeom prst="roundRect">
            <a:avLst>
              <a:gd fmla="val 100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3"/>
          <p:cNvSpPr txBox="1"/>
          <p:nvPr/>
        </p:nvSpPr>
        <p:spPr>
          <a:xfrm>
            <a:off x="6213514" y="1796796"/>
            <a:ext cx="67210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lang="ru" sz="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Leads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6213514" y="2050542"/>
            <a:ext cx="672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b="0" i="0" lang="ru" sz="6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course • bundle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62" name="Google Shape;562;p23"/>
          <p:cNvCxnSpPr/>
          <p:nvPr/>
        </p:nvCxnSpPr>
        <p:spPr>
          <a:xfrm>
            <a:off x="6974772" y="2029968"/>
            <a:ext cx="123447" cy="0"/>
          </a:xfrm>
          <a:prstGeom prst="straightConnector1">
            <a:avLst/>
          </a:prstGeom>
          <a:noFill/>
          <a:ln cap="flat" cmpd="sng" w="19050">
            <a:solidFill>
              <a:srgbClr val="9A7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3" name="Google Shape;563;p23"/>
          <p:cNvSpPr/>
          <p:nvPr/>
        </p:nvSpPr>
        <p:spPr>
          <a:xfrm>
            <a:off x="7050212" y="1687068"/>
            <a:ext cx="809266" cy="685800"/>
          </a:xfrm>
          <a:prstGeom prst="roundRect">
            <a:avLst>
              <a:gd fmla="val 100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3"/>
          <p:cNvSpPr txBox="1"/>
          <p:nvPr/>
        </p:nvSpPr>
        <p:spPr>
          <a:xfrm>
            <a:off x="7118794" y="1796796"/>
            <a:ext cx="67210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lang="ru" sz="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Order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7118794" y="2050542"/>
            <a:ext cx="672102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lang="ru" sz="6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lead • amount • status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66" name="Google Shape;566;p23"/>
          <p:cNvCxnSpPr/>
          <p:nvPr/>
        </p:nvCxnSpPr>
        <p:spPr>
          <a:xfrm>
            <a:off x="7880052" y="2029968"/>
            <a:ext cx="123447" cy="0"/>
          </a:xfrm>
          <a:prstGeom prst="straightConnector1">
            <a:avLst/>
          </a:prstGeom>
          <a:noFill/>
          <a:ln cap="flat" cmpd="sng" w="19050">
            <a:solidFill>
              <a:srgbClr val="9A7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7" name="Google Shape;567;p23"/>
          <p:cNvSpPr/>
          <p:nvPr/>
        </p:nvSpPr>
        <p:spPr>
          <a:xfrm>
            <a:off x="7955492" y="1687068"/>
            <a:ext cx="768116" cy="685800"/>
          </a:xfrm>
          <a:prstGeom prst="roundRect">
            <a:avLst>
              <a:gd fmla="val 100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3"/>
          <p:cNvSpPr txBox="1"/>
          <p:nvPr/>
        </p:nvSpPr>
        <p:spPr>
          <a:xfrm>
            <a:off x="8024074" y="1796796"/>
            <a:ext cx="630953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lang="ru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Payment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23"/>
          <p:cNvSpPr txBox="1"/>
          <p:nvPr/>
        </p:nvSpPr>
        <p:spPr>
          <a:xfrm>
            <a:off x="8024074" y="2050542"/>
            <a:ext cx="630953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lang="ru" sz="6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amount • paid_at • status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425197" y="2674625"/>
            <a:ext cx="2523900" cy="1474800"/>
          </a:xfrm>
          <a:prstGeom prst="roundRect">
            <a:avLst>
              <a:gd fmla="val 6790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 txBox="1"/>
          <p:nvPr/>
        </p:nvSpPr>
        <p:spPr>
          <a:xfrm>
            <a:off x="576078" y="2874935"/>
            <a:ext cx="2023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Registry / operational calendar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212525" y="3239056"/>
            <a:ext cx="20781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457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• что рекламируем</a:t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• где и когда размещаем</a:t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• сколько стоит размещение</a:t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3120471" y="2674627"/>
            <a:ext cx="2523900" cy="1474800"/>
          </a:xfrm>
          <a:prstGeom prst="roundRect">
            <a:avLst>
              <a:gd fmla="val 6790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3"/>
          <p:cNvSpPr txBox="1"/>
          <p:nvPr/>
        </p:nvSpPr>
        <p:spPr>
          <a:xfrm>
            <a:off x="3271351" y="2874906"/>
            <a:ext cx="20232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User stitching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5" name="Google Shape;575;p23"/>
          <p:cNvSpPr/>
          <p:nvPr/>
        </p:nvSpPr>
        <p:spPr>
          <a:xfrm>
            <a:off x="3014150" y="3073398"/>
            <a:ext cx="23454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• tracking_id сохраняется при входе в бот</a:t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• Telegram numeric ID → hash → stable user_id</a:t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• каждый новый вход = новое touch, история не перезаписывается</a:t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5815739" y="2674627"/>
            <a:ext cx="2907900" cy="1474800"/>
          </a:xfrm>
          <a:prstGeom prst="roundRect">
            <a:avLst>
              <a:gd fmla="val 6790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3"/>
          <p:cNvSpPr txBox="1"/>
          <p:nvPr/>
        </p:nvSpPr>
        <p:spPr>
          <a:xfrm>
            <a:off x="5966619" y="2874908"/>
            <a:ext cx="22632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Analytics layer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5815725" y="3094823"/>
            <a:ext cx="24414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• связываем источник с оплатой</a:t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• считаем conversion • CPL • CAC • attributed revenue</a:t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• сравниваем placements → тестируем incrementality → перераспределяем бюджет</a:t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9AA4B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788691" y="4279392"/>
            <a:ext cx="7598867" cy="384048"/>
          </a:xfrm>
          <a:prstGeom prst="roundRect">
            <a:avLst>
              <a:gd fmla="val 16071" name="adj"/>
            </a:avLst>
          </a:prstGeom>
          <a:solidFill>
            <a:srgbClr val="11161B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3"/>
          <p:cNvSpPr/>
          <p:nvPr/>
        </p:nvSpPr>
        <p:spPr>
          <a:xfrm>
            <a:off x="788691" y="4279392"/>
            <a:ext cx="34291" cy="384048"/>
          </a:xfrm>
          <a:prstGeom prst="roundRect">
            <a:avLst>
              <a:gd fmla="val 40000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3"/>
          <p:cNvSpPr txBox="1"/>
          <p:nvPr/>
        </p:nvSpPr>
        <p:spPr>
          <a:xfrm>
            <a:off x="898422" y="4334256"/>
            <a:ext cx="74068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0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Минимальное правило данных: для каждого события должно быть понятно кто → что сделал → когда → откуда пришёл → к какой активности относится.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4"/>
          <p:cNvSpPr/>
          <p:nvPr/>
        </p:nvSpPr>
        <p:spPr>
          <a:xfrm>
            <a:off x="356626" y="205740"/>
            <a:ext cx="1063018" cy="233172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 txBox="1"/>
          <p:nvPr/>
        </p:nvSpPr>
        <p:spPr>
          <a:xfrm>
            <a:off x="425207" y="233172"/>
            <a:ext cx="92585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Google Shape;589;p24"/>
          <p:cNvSpPr txBox="1"/>
          <p:nvPr/>
        </p:nvSpPr>
        <p:spPr>
          <a:xfrm>
            <a:off x="377200" y="562356"/>
            <a:ext cx="788691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000"/>
              <a:buFont typeface="Inter"/>
              <a:buNone/>
            </a:pPr>
            <a:r>
              <a:rPr b="1" i="0" lang="ru" sz="2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MVP — работающий end-to-end prototype</a:t>
            </a:r>
            <a:endParaRPr b="0" i="0" sz="2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Google Shape;590;p24"/>
          <p:cNvSpPr txBox="1"/>
          <p:nvPr/>
        </p:nvSpPr>
        <p:spPr>
          <a:xfrm>
            <a:off x="384058" y="939546"/>
            <a:ext cx="802407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800"/>
              <a:buFont typeface="Inter"/>
              <a:buNone/>
            </a:pPr>
            <a:r>
              <a:rPr b="0" i="0" lang="ru" sz="8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Сохранили реальный downstream и синтезировали только те upstream-события, которых исторически нет.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4"/>
          <p:cNvSpPr txBox="1"/>
          <p:nvPr/>
        </p:nvSpPr>
        <p:spPr>
          <a:xfrm>
            <a:off x="8353267" y="260604"/>
            <a:ext cx="4252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8/10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2" name="Google Shape;592;p24"/>
          <p:cNvSpPr/>
          <p:nvPr/>
        </p:nvSpPr>
        <p:spPr>
          <a:xfrm>
            <a:off x="384058" y="1385316"/>
            <a:ext cx="1014900" cy="493800"/>
          </a:xfrm>
          <a:prstGeom prst="roundRect">
            <a:avLst>
              <a:gd fmla="val 125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4"/>
          <p:cNvSpPr txBox="1"/>
          <p:nvPr/>
        </p:nvSpPr>
        <p:spPr>
          <a:xfrm>
            <a:off x="432066" y="1522476"/>
            <a:ext cx="91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ts val="700"/>
              <a:buFont typeface="Inter"/>
              <a:buNone/>
            </a:pPr>
            <a:r>
              <a:rPr b="1" i="0" lang="ru" sz="900" u="none" cap="none" strike="noStrike">
                <a:solidFill>
                  <a:srgbClr val="FF5B6E"/>
                </a:solidFill>
                <a:latin typeface="Inter"/>
                <a:ea typeface="Inter"/>
                <a:cs typeface="Inter"/>
                <a:sym typeface="Inter"/>
              </a:rPr>
              <a:t>Placement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4" name="Google Shape;594;p24"/>
          <p:cNvCxnSpPr/>
          <p:nvPr/>
        </p:nvCxnSpPr>
        <p:spPr>
          <a:xfrm>
            <a:off x="1419644" y="1639062"/>
            <a:ext cx="137100" cy="0"/>
          </a:xfrm>
          <a:prstGeom prst="straightConnector1">
            <a:avLst/>
          </a:prstGeom>
          <a:noFill/>
          <a:ln cap="flat" cmpd="sng" w="19050">
            <a:solidFill>
              <a:srgbClr val="FF5B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5" name="Google Shape;595;p24"/>
          <p:cNvSpPr/>
          <p:nvPr/>
        </p:nvSpPr>
        <p:spPr>
          <a:xfrm>
            <a:off x="1604815" y="1385316"/>
            <a:ext cx="1014900" cy="493800"/>
          </a:xfrm>
          <a:prstGeom prst="roundRect">
            <a:avLst>
              <a:gd fmla="val 125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 txBox="1"/>
          <p:nvPr/>
        </p:nvSpPr>
        <p:spPr>
          <a:xfrm>
            <a:off x="1652822" y="1522476"/>
            <a:ext cx="9189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C2FF"/>
              </a:buClr>
              <a:buSzPts val="700"/>
              <a:buFont typeface="Inter"/>
              <a:buNone/>
            </a:pPr>
            <a:r>
              <a:rPr b="1" i="0" lang="ru" sz="900" u="none" cap="none" strike="noStrike">
                <a:solidFill>
                  <a:srgbClr val="55C2FF"/>
                </a:solidFill>
                <a:latin typeface="Inter"/>
                <a:ea typeface="Inter"/>
                <a:cs typeface="Inter"/>
                <a:sym typeface="Inter"/>
              </a:rPr>
              <a:t>Deep link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7" name="Google Shape;597;p24"/>
          <p:cNvCxnSpPr/>
          <p:nvPr/>
        </p:nvCxnSpPr>
        <p:spPr>
          <a:xfrm>
            <a:off x="2640400" y="1639062"/>
            <a:ext cx="137164" cy="0"/>
          </a:xfrm>
          <a:prstGeom prst="straightConnector1">
            <a:avLst/>
          </a:prstGeom>
          <a:noFill/>
          <a:ln cap="flat" cmpd="sng" w="19050">
            <a:solidFill>
              <a:srgbClr val="55C2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8" name="Google Shape;598;p24"/>
          <p:cNvSpPr/>
          <p:nvPr/>
        </p:nvSpPr>
        <p:spPr>
          <a:xfrm>
            <a:off x="2825571" y="1385316"/>
            <a:ext cx="1015011" cy="493776"/>
          </a:xfrm>
          <a:prstGeom prst="roundRect">
            <a:avLst>
              <a:gd fmla="val 125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4"/>
          <p:cNvSpPr txBox="1"/>
          <p:nvPr/>
        </p:nvSpPr>
        <p:spPr>
          <a:xfrm>
            <a:off x="2873579" y="1522476"/>
            <a:ext cx="9189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C2FF"/>
              </a:buClr>
              <a:buSzPts val="700"/>
              <a:buFont typeface="Inter"/>
              <a:buNone/>
            </a:pPr>
            <a:r>
              <a:rPr b="1" i="0" lang="ru" sz="900" u="none" cap="none" strike="noStrike">
                <a:solidFill>
                  <a:srgbClr val="55C2FF"/>
                </a:solidFill>
                <a:latin typeface="Inter"/>
                <a:ea typeface="Inter"/>
                <a:cs typeface="Inter"/>
                <a:sym typeface="Inter"/>
              </a:rPr>
              <a:t>Touch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0" name="Google Shape;600;p24"/>
          <p:cNvCxnSpPr/>
          <p:nvPr/>
        </p:nvCxnSpPr>
        <p:spPr>
          <a:xfrm>
            <a:off x="3861157" y="1639062"/>
            <a:ext cx="137164" cy="0"/>
          </a:xfrm>
          <a:prstGeom prst="straightConnector1">
            <a:avLst/>
          </a:prstGeom>
          <a:noFill/>
          <a:ln cap="flat" cmpd="sng" w="19050">
            <a:solidFill>
              <a:srgbClr val="55C2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1" name="Google Shape;601;p24"/>
          <p:cNvSpPr/>
          <p:nvPr/>
        </p:nvSpPr>
        <p:spPr>
          <a:xfrm>
            <a:off x="4046328" y="1385316"/>
            <a:ext cx="1015011" cy="493776"/>
          </a:xfrm>
          <a:prstGeom prst="roundRect">
            <a:avLst>
              <a:gd fmla="val 125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4"/>
          <p:cNvSpPr txBox="1"/>
          <p:nvPr/>
        </p:nvSpPr>
        <p:spPr>
          <a:xfrm>
            <a:off x="4094335" y="1522476"/>
            <a:ext cx="9189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7BFF"/>
              </a:buClr>
              <a:buSzPts val="700"/>
              <a:buFont typeface="Inter"/>
              <a:buNone/>
            </a:pPr>
            <a:r>
              <a:rPr b="1" i="0" lang="ru" sz="900" u="none" cap="none" strike="noStrike">
                <a:solidFill>
                  <a:srgbClr val="9A7BFF"/>
                </a:solidFill>
                <a:latin typeface="Inter"/>
                <a:ea typeface="Inter"/>
                <a:cs typeface="Inter"/>
                <a:sym typeface="Inter"/>
              </a:rPr>
              <a:t>Lead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3" name="Google Shape;603;p24"/>
          <p:cNvCxnSpPr/>
          <p:nvPr/>
        </p:nvCxnSpPr>
        <p:spPr>
          <a:xfrm>
            <a:off x="5081913" y="1639062"/>
            <a:ext cx="137164" cy="0"/>
          </a:xfrm>
          <a:prstGeom prst="straightConnector1">
            <a:avLst/>
          </a:prstGeom>
          <a:noFill/>
          <a:ln cap="flat" cmpd="sng" w="19050">
            <a:solidFill>
              <a:srgbClr val="9A7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4" name="Google Shape;604;p24"/>
          <p:cNvSpPr/>
          <p:nvPr/>
        </p:nvSpPr>
        <p:spPr>
          <a:xfrm>
            <a:off x="5267084" y="1385316"/>
            <a:ext cx="1015011" cy="493776"/>
          </a:xfrm>
          <a:prstGeom prst="roundRect">
            <a:avLst>
              <a:gd fmla="val 125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4"/>
          <p:cNvSpPr txBox="1"/>
          <p:nvPr/>
        </p:nvSpPr>
        <p:spPr>
          <a:xfrm>
            <a:off x="5315092" y="1522476"/>
            <a:ext cx="9189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17A"/>
              </a:buClr>
              <a:buSzPts val="700"/>
              <a:buFont typeface="Inter"/>
              <a:buNone/>
            </a:pPr>
            <a:r>
              <a:rPr b="1" i="0" lang="ru" sz="900" u="none" cap="none" strike="noStrike">
                <a:solidFill>
                  <a:srgbClr val="33D17A"/>
                </a:solidFill>
                <a:latin typeface="Inter"/>
                <a:ea typeface="Inter"/>
                <a:cs typeface="Inter"/>
                <a:sym typeface="Inter"/>
              </a:rPr>
              <a:t>REAL payment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6" name="Google Shape;606;p24"/>
          <p:cNvCxnSpPr/>
          <p:nvPr/>
        </p:nvCxnSpPr>
        <p:spPr>
          <a:xfrm>
            <a:off x="6302670" y="1639062"/>
            <a:ext cx="137164" cy="0"/>
          </a:xfrm>
          <a:prstGeom prst="straightConnector1">
            <a:avLst/>
          </a:prstGeom>
          <a:noFill/>
          <a:ln cap="flat" cmpd="sng" w="19050">
            <a:solidFill>
              <a:srgbClr val="33D1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7" name="Google Shape;607;p24"/>
          <p:cNvSpPr/>
          <p:nvPr/>
        </p:nvSpPr>
        <p:spPr>
          <a:xfrm>
            <a:off x="6487841" y="1385316"/>
            <a:ext cx="1015011" cy="493776"/>
          </a:xfrm>
          <a:prstGeom prst="roundRect">
            <a:avLst>
              <a:gd fmla="val 125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4"/>
          <p:cNvSpPr txBox="1"/>
          <p:nvPr/>
        </p:nvSpPr>
        <p:spPr>
          <a:xfrm>
            <a:off x="6535848" y="1522476"/>
            <a:ext cx="9189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C95D"/>
              </a:buClr>
              <a:buSzPts val="700"/>
              <a:buFont typeface="Inter"/>
              <a:buNone/>
            </a:pPr>
            <a:r>
              <a:rPr b="1" i="0" lang="ru" sz="900" u="none" cap="none" strike="noStrike">
                <a:solidFill>
                  <a:srgbClr val="F4C95D"/>
                </a:solidFill>
                <a:latin typeface="Inter"/>
                <a:ea typeface="Inter"/>
                <a:cs typeface="Inter"/>
                <a:sym typeface="Inter"/>
              </a:rPr>
              <a:t>Attribution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9" name="Google Shape;609;p24"/>
          <p:cNvCxnSpPr/>
          <p:nvPr/>
        </p:nvCxnSpPr>
        <p:spPr>
          <a:xfrm>
            <a:off x="7523427" y="1639062"/>
            <a:ext cx="137164" cy="0"/>
          </a:xfrm>
          <a:prstGeom prst="straightConnector1">
            <a:avLst/>
          </a:prstGeom>
          <a:noFill/>
          <a:ln cap="flat" cmpd="sng" w="19050">
            <a:solidFill>
              <a:srgbClr val="F4C95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0" name="Google Shape;610;p24"/>
          <p:cNvSpPr/>
          <p:nvPr/>
        </p:nvSpPr>
        <p:spPr>
          <a:xfrm>
            <a:off x="7708597" y="1385316"/>
            <a:ext cx="1015011" cy="493776"/>
          </a:xfrm>
          <a:prstGeom prst="roundRect">
            <a:avLst>
              <a:gd fmla="val 12500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4"/>
          <p:cNvSpPr txBox="1"/>
          <p:nvPr/>
        </p:nvSpPr>
        <p:spPr>
          <a:xfrm>
            <a:off x="7756605" y="1522476"/>
            <a:ext cx="9189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17A"/>
              </a:buClr>
              <a:buSzPts val="700"/>
              <a:buFont typeface="Inter"/>
              <a:buNone/>
            </a:pPr>
            <a:r>
              <a:rPr b="1" i="0" lang="ru" sz="900" u="none" cap="none" strike="noStrike">
                <a:solidFill>
                  <a:srgbClr val="33D17A"/>
                </a:solidFill>
                <a:latin typeface="Inter"/>
                <a:ea typeface="Inter"/>
                <a:cs typeface="Inter"/>
                <a:sym typeface="Inter"/>
              </a:rPr>
              <a:t>ROMI_attr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466481" y="2180812"/>
            <a:ext cx="2592300" cy="1536300"/>
          </a:xfrm>
          <a:prstGeom prst="roundRect">
            <a:avLst>
              <a:gd fmla="val 4911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4"/>
          <p:cNvSpPr/>
          <p:nvPr/>
        </p:nvSpPr>
        <p:spPr>
          <a:xfrm>
            <a:off x="630950" y="2270000"/>
            <a:ext cx="544800" cy="281400"/>
          </a:xfrm>
          <a:prstGeom prst="roundRect">
            <a:avLst>
              <a:gd fmla="val 37500" name="adj"/>
            </a:avLst>
          </a:prstGeom>
          <a:solidFill>
            <a:srgbClr val="123021"/>
          </a:solidFill>
          <a:ln cap="flat" cmpd="sng" w="16275">
            <a:solidFill>
              <a:srgbClr val="12302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850" lIns="87850" spcFirstLastPara="1" rIns="87850" wrap="square" tIns="87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4"/>
          <p:cNvSpPr txBox="1"/>
          <p:nvPr/>
        </p:nvSpPr>
        <p:spPr>
          <a:xfrm>
            <a:off x="701240" y="2309539"/>
            <a:ext cx="4041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17A"/>
              </a:buClr>
              <a:buSzPts val="769"/>
              <a:buFont typeface="Inter"/>
              <a:buNone/>
            </a:pPr>
            <a:r>
              <a:rPr b="1" i="0" lang="ru" sz="769" u="none" cap="none" strike="noStrike">
                <a:solidFill>
                  <a:srgbClr val="33D17A"/>
                </a:solidFill>
                <a:latin typeface="Inter"/>
                <a:ea typeface="Inter"/>
                <a:cs typeface="Inter"/>
                <a:sym typeface="Inter"/>
              </a:rPr>
              <a:t>REAL</a:t>
            </a:r>
            <a:endParaRPr b="0" i="0" sz="769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630950" y="2674625"/>
            <a:ext cx="23679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-1524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000"/>
              <a:buFont typeface="Inter"/>
              <a:buChar char="•"/>
            </a:pPr>
            <a:r>
              <a:rPr b="0" i="0" lang="ru" sz="1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795 </a:t>
            </a:r>
            <a:r>
              <a:rPr lang="ru" sz="1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строк продаж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000"/>
              <a:buFont typeface="Inter"/>
              <a:buChar char="•"/>
            </a:pPr>
            <a:r>
              <a:rPr b="0" i="0" lang="ru" sz="1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628 </a:t>
            </a:r>
            <a:r>
              <a:rPr lang="ru" sz="1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предполагаемых заказов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000"/>
              <a:buFont typeface="Inter"/>
              <a:buChar char="•"/>
            </a:pPr>
            <a:r>
              <a:rPr b="0" i="0" lang="ru" sz="1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475 </a:t>
            </a:r>
            <a:r>
              <a:rPr lang="ru" sz="1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заказов из одной строки, использованных для демонстрации расчета ROMI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000"/>
              <a:buFont typeface="Inter"/>
              <a:buChar char="•"/>
            </a:pPr>
            <a:r>
              <a:rPr lang="ru" sz="1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курсы</a:t>
            </a:r>
            <a:r>
              <a:rPr b="0" i="0" lang="ru" sz="1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ru" sz="1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сумма</a:t>
            </a:r>
            <a:r>
              <a:rPr b="0" i="0" lang="ru" sz="1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ru" sz="1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время оплаты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3285120" y="2180812"/>
            <a:ext cx="2592300" cy="1536300"/>
          </a:xfrm>
          <a:prstGeom prst="roundRect">
            <a:avLst>
              <a:gd fmla="val 4911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3449678" y="2269775"/>
            <a:ext cx="1213500" cy="281400"/>
          </a:xfrm>
          <a:prstGeom prst="roundRect">
            <a:avLst>
              <a:gd fmla="val 37500" name="adj"/>
            </a:avLst>
          </a:prstGeom>
          <a:solidFill>
            <a:srgbClr val="35151C"/>
          </a:solidFill>
          <a:ln cap="flat" cmpd="sng" w="16275">
            <a:solidFill>
              <a:srgbClr val="3515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25" lIns="87925" spcFirstLastPara="1" rIns="87925" wrap="square" tIns="8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4"/>
          <p:cNvSpPr txBox="1"/>
          <p:nvPr/>
        </p:nvSpPr>
        <p:spPr>
          <a:xfrm>
            <a:off x="3520031" y="2309347"/>
            <a:ext cx="10728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ts val="769"/>
              <a:buFont typeface="Inter"/>
              <a:buNone/>
            </a:pPr>
            <a:r>
              <a:rPr b="1" i="0" lang="ru" sz="769" u="none" cap="none" strike="noStrike">
                <a:solidFill>
                  <a:srgbClr val="FF5B6E"/>
                </a:solidFill>
                <a:latin typeface="Inter"/>
                <a:ea typeface="Inter"/>
                <a:cs typeface="Inter"/>
                <a:sym typeface="Inter"/>
              </a:rPr>
              <a:t>SYNTHETIC / DEMO</a:t>
            </a:r>
            <a:endParaRPr b="0" i="0" sz="769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3367477" y="2745425"/>
            <a:ext cx="2427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-1460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00"/>
              <a:buFont typeface="Inter"/>
              <a:buChar char="•"/>
            </a:pP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определение источника рекламного размещения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60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00"/>
              <a:buFont typeface="Inter"/>
              <a:buChar char="•"/>
            </a:pPr>
            <a:r>
              <a:rPr b="0" i="0" lang="ru" sz="9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tracking / </a:t>
            </a: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касания</a:t>
            </a:r>
            <a:r>
              <a:rPr b="0" i="0" lang="ru" sz="9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лиды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60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00"/>
              <a:buFont typeface="Inter"/>
              <a:buChar char="•"/>
            </a:pP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историческая стоимость размещения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60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00"/>
              <a:buFont typeface="Inter"/>
              <a:buChar char="•"/>
            </a:pP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используется только для проверки механики, но не исследования каналов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6103783" y="2180800"/>
            <a:ext cx="2592300" cy="1536300"/>
          </a:xfrm>
          <a:prstGeom prst="roundRect">
            <a:avLst>
              <a:gd fmla="val 4911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6268375" y="2269625"/>
            <a:ext cx="699000" cy="281400"/>
          </a:xfrm>
          <a:prstGeom prst="roundRect">
            <a:avLst>
              <a:gd fmla="val 37500" name="adj"/>
            </a:avLst>
          </a:prstGeom>
          <a:solidFill>
            <a:srgbClr val="14243A"/>
          </a:solidFill>
          <a:ln cap="flat" cmpd="sng" w="16300">
            <a:solidFill>
              <a:srgbClr val="1424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4"/>
          <p:cNvSpPr txBox="1"/>
          <p:nvPr/>
        </p:nvSpPr>
        <p:spPr>
          <a:xfrm>
            <a:off x="6340075" y="2309224"/>
            <a:ext cx="5556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C2FF"/>
              </a:buClr>
              <a:buSzPts val="770"/>
              <a:buFont typeface="Inter"/>
              <a:buNone/>
            </a:pPr>
            <a:r>
              <a:rPr b="1" i="0" lang="ru" sz="770" u="none" cap="none" strike="noStrike">
                <a:solidFill>
                  <a:srgbClr val="55C2FF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 b="0" i="0" sz="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6268375" y="2745425"/>
            <a:ext cx="23679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-1460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00"/>
              <a:buFont typeface="Inter"/>
              <a:buChar char="•"/>
            </a:pP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касание</a:t>
            </a:r>
            <a:r>
              <a:rPr b="0" i="0" lang="ru" sz="9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 → lead </a:t>
            </a: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конверсия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60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00"/>
              <a:buFont typeface="Inter"/>
              <a:buChar char="•"/>
            </a:pPr>
            <a:r>
              <a:rPr b="0" i="0" lang="ru" sz="9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lead → </a:t>
            </a: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покупка конверсия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60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00"/>
              <a:buFont typeface="Inter"/>
              <a:buChar char="•"/>
            </a:pPr>
            <a:r>
              <a:rPr b="0" i="0" lang="ru" sz="9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CPL • CAC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60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00"/>
              <a:buFont typeface="Inter"/>
              <a:buChar char="•"/>
            </a:pP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атрибутированная выручка</a:t>
            </a:r>
            <a:r>
              <a:rPr b="0" i="0" lang="ru" sz="9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 • ROMI_attr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605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00"/>
              <a:buFont typeface="Inter"/>
              <a:buChar char="•"/>
            </a:pPr>
            <a:r>
              <a:rPr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витрина данных, готовая для прогнозирования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651925" y="4018800"/>
            <a:ext cx="7852200" cy="742200"/>
          </a:xfrm>
          <a:prstGeom prst="roundRect">
            <a:avLst>
              <a:gd fmla="val 12500" name="adj"/>
            </a:avLst>
          </a:prstGeom>
          <a:solidFill>
            <a:srgbClr val="11161B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651925" y="4018800"/>
            <a:ext cx="34200" cy="742200"/>
          </a:xfrm>
          <a:prstGeom prst="roundRect">
            <a:avLst>
              <a:gd fmla="val 40000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4"/>
          <p:cNvSpPr txBox="1"/>
          <p:nvPr/>
        </p:nvSpPr>
        <p:spPr>
          <a:xfrm>
            <a:off x="751025" y="4102350"/>
            <a:ext cx="7660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Демонстрационный пример: @ProdAnalysis / P002 → 85 касаний → 25 лидов → 6 реальных оплат → 47 525 ₽ атрибутированной выручки → ROMI_attr = 58,4% при демонстрационной стоимости размещения 30 000 ₽. Это пример работы механики MVP, а не историческая оценка эффективности канала.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F7F8FA"/>
              </a:buClr>
              <a:buSzPts val="700"/>
              <a:buFont typeface="Inter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5"/>
          <p:cNvSpPr/>
          <p:nvPr/>
        </p:nvSpPr>
        <p:spPr>
          <a:xfrm>
            <a:off x="356626" y="205740"/>
            <a:ext cx="1062900" cy="233100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5"/>
          <p:cNvSpPr txBox="1"/>
          <p:nvPr/>
        </p:nvSpPr>
        <p:spPr>
          <a:xfrm>
            <a:off x="425207" y="233172"/>
            <a:ext cx="92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Google Shape;634;p25"/>
          <p:cNvSpPr txBox="1"/>
          <p:nvPr/>
        </p:nvSpPr>
        <p:spPr>
          <a:xfrm>
            <a:off x="377200" y="562356"/>
            <a:ext cx="788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ct val="100000"/>
              <a:buFont typeface="Inter"/>
              <a:buNone/>
            </a:pPr>
            <a:r>
              <a:rPr b="1" lang="ru" sz="20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Forecast: сейчас — по истории продаж, дальше — с учётом маркетинга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Google Shape;635;p25"/>
          <p:cNvSpPr txBox="1"/>
          <p:nvPr/>
        </p:nvSpPr>
        <p:spPr>
          <a:xfrm>
            <a:off x="384058" y="939546"/>
            <a:ext cx="8024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800"/>
              <a:buFont typeface="Inter"/>
              <a:buNone/>
            </a:pPr>
            <a:r>
              <a:rPr lang="ru" sz="8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На 38 днях истории обучили простую Linear Regression: сложная модель на таком объёме данных не обоснована.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6" name="Google Shape;636;p25"/>
          <p:cNvSpPr txBox="1"/>
          <p:nvPr/>
        </p:nvSpPr>
        <p:spPr>
          <a:xfrm>
            <a:off x="8353267" y="260604"/>
            <a:ext cx="425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9/10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5335666" y="1426464"/>
            <a:ext cx="1453800" cy="672000"/>
          </a:xfrm>
          <a:prstGeom prst="roundRect">
            <a:avLst>
              <a:gd fmla="val 12245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5"/>
          <p:cNvSpPr txBox="1"/>
          <p:nvPr/>
        </p:nvSpPr>
        <p:spPr>
          <a:xfrm>
            <a:off x="5445397" y="1495044"/>
            <a:ext cx="123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800"/>
              <a:buFont typeface="Inter"/>
              <a:buNone/>
            </a:pPr>
            <a:r>
              <a:rPr b="1" i="0" lang="ru" sz="1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13.</a:t>
            </a:r>
            <a:r>
              <a:rPr b="1" lang="ru" sz="1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9" name="Google Shape;639;p25"/>
          <p:cNvSpPr txBox="1"/>
          <p:nvPr/>
        </p:nvSpPr>
        <p:spPr>
          <a:xfrm>
            <a:off x="5445397" y="1817370"/>
            <a:ext cx="123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lang="ru" sz="7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MAE • Linear Regression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5335666" y="1426464"/>
            <a:ext cx="34200" cy="672000"/>
          </a:xfrm>
          <a:prstGeom prst="roundRect">
            <a:avLst>
              <a:gd fmla="val 40000" name="adj"/>
            </a:avLst>
          </a:prstGeom>
          <a:solidFill>
            <a:srgbClr val="55C2FF"/>
          </a:solidFill>
          <a:ln cap="flat" cmpd="sng" w="12700">
            <a:solidFill>
              <a:srgbClr val="55C2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5"/>
          <p:cNvSpPr/>
          <p:nvPr/>
        </p:nvSpPr>
        <p:spPr>
          <a:xfrm>
            <a:off x="6961056" y="1426464"/>
            <a:ext cx="1453800" cy="672000"/>
          </a:xfrm>
          <a:prstGeom prst="roundRect">
            <a:avLst>
              <a:gd fmla="val 12245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5"/>
          <p:cNvSpPr txBox="1"/>
          <p:nvPr/>
        </p:nvSpPr>
        <p:spPr>
          <a:xfrm>
            <a:off x="7070786" y="1495044"/>
            <a:ext cx="123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800"/>
              <a:buFont typeface="Inter"/>
              <a:buNone/>
            </a:pPr>
            <a:r>
              <a:rPr b="1" lang="ru" sz="18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-26.5</a:t>
            </a:r>
            <a:r>
              <a:rPr b="1" i="0" lang="ru" sz="1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25"/>
          <p:cNvSpPr txBox="1"/>
          <p:nvPr/>
        </p:nvSpPr>
        <p:spPr>
          <a:xfrm>
            <a:off x="7070786" y="1817370"/>
            <a:ext cx="123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lang="ru" sz="700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MAE vs best baseline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Google Shape;644;p25"/>
          <p:cNvSpPr/>
          <p:nvPr/>
        </p:nvSpPr>
        <p:spPr>
          <a:xfrm>
            <a:off x="6961056" y="1426464"/>
            <a:ext cx="34200" cy="672000"/>
          </a:xfrm>
          <a:prstGeom prst="roundRect">
            <a:avLst>
              <a:gd fmla="val 40000" name="adj"/>
            </a:avLst>
          </a:prstGeom>
          <a:solidFill>
            <a:srgbClr val="F4C95D"/>
          </a:solidFill>
          <a:ln cap="flat" cmpd="sng" w="12700">
            <a:solidFill>
              <a:srgbClr val="F4C9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5"/>
          <p:cNvSpPr/>
          <p:nvPr/>
        </p:nvSpPr>
        <p:spPr>
          <a:xfrm>
            <a:off x="5335666" y="2290572"/>
            <a:ext cx="3079200" cy="1069800"/>
          </a:xfrm>
          <a:prstGeom prst="roundRect">
            <a:avLst>
              <a:gd fmla="val 6410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5500301" y="2455175"/>
            <a:ext cx="1023300" cy="219600"/>
          </a:xfrm>
          <a:prstGeom prst="roundRect">
            <a:avLst>
              <a:gd fmla="val 37500" name="adj"/>
            </a:avLst>
          </a:prstGeom>
          <a:solidFill>
            <a:srgbClr val="35151C"/>
          </a:solidFill>
          <a:ln cap="flat" cmpd="sng" w="12700">
            <a:solidFill>
              <a:srgbClr val="3515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5"/>
          <p:cNvSpPr txBox="1"/>
          <p:nvPr/>
        </p:nvSpPr>
        <p:spPr>
          <a:xfrm>
            <a:off x="5555121" y="2486025"/>
            <a:ext cx="894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B6E"/>
              </a:buClr>
              <a:buSzPts val="600"/>
              <a:buFont typeface="Inter"/>
              <a:buNone/>
            </a:pPr>
            <a:r>
              <a:rPr b="1" lang="ru" sz="600">
                <a:solidFill>
                  <a:srgbClr val="FF5B6E"/>
                </a:solidFill>
                <a:latin typeface="Inter"/>
                <a:ea typeface="Inter"/>
                <a:cs typeface="Inter"/>
                <a:sym typeface="Inter"/>
              </a:rPr>
              <a:t>ПРОГНОЗ СЕЙЧАС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8" name="Google Shape;648;p25"/>
          <p:cNvSpPr txBox="1"/>
          <p:nvPr/>
        </p:nvSpPr>
        <p:spPr>
          <a:xfrm>
            <a:off x="5500263" y="2763774"/>
            <a:ext cx="268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ct val="72727"/>
              <a:buFont typeface="Inter"/>
              <a:buNone/>
            </a:pPr>
            <a:r>
              <a:rPr b="1" lang="ru" sz="1100">
                <a:solidFill>
                  <a:schemeClr val="lt1"/>
                </a:solidFill>
              </a:rPr>
              <a:t>Из-за короткой истории используем простую регрессию с временными признаками: лагами, rolling mean, трендом и днём недели. Прогноз на следующие 7 дней — ≈191 покупка, но из-за высокой ошибки рассматриваем его как baseline-сценарий.</a:t>
            </a:r>
            <a:endParaRPr b="1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5335666" y="3566160"/>
            <a:ext cx="3079200" cy="740700"/>
          </a:xfrm>
          <a:prstGeom prst="roundRect">
            <a:avLst>
              <a:gd fmla="val 9259" name="adj"/>
            </a:avLst>
          </a:prstGeom>
          <a:solidFill>
            <a:srgbClr val="151A20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5"/>
          <p:cNvSpPr txBox="1"/>
          <p:nvPr/>
        </p:nvSpPr>
        <p:spPr>
          <a:xfrm>
            <a:off x="5500263" y="3689604"/>
            <a:ext cx="267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Что добавит measurement system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1" name="Google Shape;651;p25"/>
          <p:cNvSpPr txBox="1"/>
          <p:nvPr/>
        </p:nvSpPr>
        <p:spPr>
          <a:xfrm>
            <a:off x="5500263" y="3950208"/>
            <a:ext cx="267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333"/>
              <a:buFont typeface="Inter"/>
              <a:buNone/>
            </a:pPr>
            <a:r>
              <a:rPr lang="ru" sz="623">
                <a:solidFill>
                  <a:schemeClr val="lt1"/>
                </a:solidFill>
              </a:rPr>
              <a:t>Сейчас модель знает только прошлые продажи. После внедрения системы в прогноз можно добавить известные заранее маркетинговые признаки: </a:t>
            </a:r>
            <a:r>
              <a:rPr b="1" lang="ru" sz="623">
                <a:solidFill>
                  <a:schemeClr val="lt1"/>
                </a:solidFill>
              </a:rPr>
              <a:t>бюджет, число размещений, каналы, тип креатива, скидки и запуски</a:t>
            </a:r>
            <a:r>
              <a:rPr lang="ru" sz="623">
                <a:solidFill>
                  <a:schemeClr val="lt1"/>
                </a:solidFill>
              </a:rPr>
              <a:t>.</a:t>
            </a:r>
            <a:endParaRPr b="0" i="0" sz="433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2" name="Google Shape;652;p25"/>
          <p:cNvSpPr/>
          <p:nvPr/>
        </p:nvSpPr>
        <p:spPr>
          <a:xfrm>
            <a:off x="630953" y="4320540"/>
            <a:ext cx="4149300" cy="329100"/>
          </a:xfrm>
          <a:prstGeom prst="roundRect">
            <a:avLst>
              <a:gd fmla="val 18750" name="adj"/>
            </a:avLst>
          </a:prstGeom>
          <a:solidFill>
            <a:srgbClr val="11161B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5"/>
          <p:cNvSpPr/>
          <p:nvPr/>
        </p:nvSpPr>
        <p:spPr>
          <a:xfrm>
            <a:off x="630953" y="4320540"/>
            <a:ext cx="34200" cy="329100"/>
          </a:xfrm>
          <a:prstGeom prst="roundRect">
            <a:avLst>
              <a:gd fmla="val 40000" name="adj"/>
            </a:avLst>
          </a:prstGeom>
          <a:solidFill>
            <a:srgbClr val="33D17A"/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5"/>
          <p:cNvSpPr txBox="1"/>
          <p:nvPr/>
        </p:nvSpPr>
        <p:spPr>
          <a:xfrm>
            <a:off x="740684" y="4375404"/>
            <a:ext cx="3957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ct val="63636"/>
              <a:buFont typeface="Inter"/>
              <a:buNone/>
            </a:pPr>
            <a:r>
              <a:rPr lang="ru" sz="1100">
                <a:solidFill>
                  <a:schemeClr val="lt1"/>
                </a:solidFill>
              </a:rPr>
              <a:t>После накопления данных Measurement System — </a:t>
            </a:r>
            <a:r>
              <a:rPr b="1" lang="ru" sz="1100">
                <a:solidFill>
                  <a:schemeClr val="lt1"/>
                </a:solidFill>
              </a:rPr>
              <a:t>CatBoost с признаками spend, placements, channel, creative, discount и launch</a:t>
            </a:r>
            <a:r>
              <a:rPr lang="ru" sz="1100">
                <a:solidFill>
                  <a:schemeClr val="lt1"/>
                </a:solidFill>
              </a:rPr>
              <a:t>.</a:t>
            </a:r>
            <a:endParaRPr b="0" i="0" sz="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55" name="Google Shape;655;p25"/>
          <p:cNvCxnSpPr/>
          <p:nvPr/>
        </p:nvCxnSpPr>
        <p:spPr>
          <a:xfrm>
            <a:off x="377200" y="4855464"/>
            <a:ext cx="8387700" cy="0"/>
          </a:xfrm>
          <a:prstGeom prst="straightConnector1">
            <a:avLst/>
          </a:prstGeom>
          <a:noFill/>
          <a:ln cap="flat" cmpd="sng" w="9525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6" name="Google Shape;656;p25"/>
          <p:cNvSpPr txBox="1"/>
          <p:nvPr/>
        </p:nvSpPr>
        <p:spPr>
          <a:xfrm>
            <a:off x="397775" y="4896612"/>
            <a:ext cx="6858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D8A"/>
              </a:buClr>
              <a:buSzPts val="500"/>
              <a:buFont typeface="Inter"/>
              <a:buNone/>
            </a:pPr>
            <a:r>
              <a:rPr b="0" i="0" lang="ru" sz="500" u="none" cap="none" strike="noStrike">
                <a:solidFill>
                  <a:srgbClr val="727D8A"/>
                </a:solidFill>
                <a:latin typeface="Inter"/>
                <a:ea typeface="Inter"/>
                <a:cs typeface="Inter"/>
                <a:sym typeface="Inter"/>
              </a:rPr>
              <a:t>Backtest команды на real probable orders; последний 7-дневный holdout</a:t>
            </a:r>
            <a:endParaRPr b="0" i="0" sz="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7" name="Google Shape;657;p25"/>
          <p:cNvSpPr txBox="1"/>
          <p:nvPr/>
        </p:nvSpPr>
        <p:spPr>
          <a:xfrm>
            <a:off x="7338256" y="4896612"/>
            <a:ext cx="14058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27D8A"/>
              </a:buClr>
              <a:buSzPts val="500"/>
              <a:buFont typeface="Inter"/>
              <a:buNone/>
            </a:pPr>
            <a:r>
              <a:rPr b="0" i="0" lang="ru" sz="500" u="none" cap="none" strike="noStrike">
                <a:solidFill>
                  <a:srgbClr val="727D8A"/>
                </a:solidFill>
                <a:latin typeface="Inter"/>
                <a:ea typeface="Inter"/>
                <a:cs typeface="Inter"/>
                <a:sym typeface="Inter"/>
              </a:rPr>
              <a:t>Поступашки • hackathon solution</a:t>
            </a:r>
            <a:endParaRPr b="0" i="0" sz="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5" title="9772784e-43cc-4d8a-9db3-76ccfb23f6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700" y="1615046"/>
            <a:ext cx="5030865" cy="2290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3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6"/>
          <p:cNvSpPr/>
          <p:nvPr/>
        </p:nvSpPr>
        <p:spPr>
          <a:xfrm>
            <a:off x="356626" y="205740"/>
            <a:ext cx="1063018" cy="233172"/>
          </a:xfrm>
          <a:prstGeom prst="roundRect">
            <a:avLst>
              <a:gd fmla="val 23529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 txBox="1"/>
          <p:nvPr/>
        </p:nvSpPr>
        <p:spPr>
          <a:xfrm>
            <a:off x="425207" y="233172"/>
            <a:ext cx="92585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АНАЛИТИКА ВНЕ SQL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377200" y="480069"/>
            <a:ext cx="788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2000"/>
              <a:buFont typeface="Inter"/>
              <a:buNone/>
            </a:pPr>
            <a:r>
              <a:rPr b="1" i="0" lang="ru" sz="20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Что делать с 300 000 ₽ — не ставить всё на один канал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26"/>
          <p:cNvSpPr txBox="1"/>
          <p:nvPr/>
        </p:nvSpPr>
        <p:spPr>
          <a:xfrm>
            <a:off x="384058" y="939546"/>
            <a:ext cx="802407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80"/>
              <a:buFont typeface="Inter"/>
              <a:buNone/>
            </a:pPr>
            <a:r>
              <a:rPr lang="ru" sz="1120">
                <a:solidFill>
                  <a:schemeClr val="lt1"/>
                </a:solidFill>
              </a:rPr>
              <a:t>Исторический анализ показывает более сильный отклик START, поэтому следующий бюджет направляем на проверку этой гипотезы — с обязательным tracking и поэтапным масштабированием.</a:t>
            </a:r>
            <a:endParaRPr b="0" i="0" sz="78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8" name="Google Shape;668;p26"/>
          <p:cNvSpPr txBox="1"/>
          <p:nvPr/>
        </p:nvSpPr>
        <p:spPr>
          <a:xfrm>
            <a:off x="8353267" y="260604"/>
            <a:ext cx="42520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1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10/10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9" name="Google Shape;669;p26"/>
          <p:cNvSpPr txBox="1"/>
          <p:nvPr/>
        </p:nvSpPr>
        <p:spPr>
          <a:xfrm>
            <a:off x="480064" y="1423011"/>
            <a:ext cx="144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1900"/>
              <a:buFont typeface="Inter"/>
              <a:buNone/>
            </a:pPr>
            <a:r>
              <a:rPr b="1" i="0" lang="ru" sz="1900" u="none" cap="none" strike="noStrike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300 000 ₽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0" name="Google Shape;670;p26"/>
          <p:cNvSpPr txBox="1"/>
          <p:nvPr/>
        </p:nvSpPr>
        <p:spPr>
          <a:xfrm>
            <a:off x="486922" y="1752195"/>
            <a:ext cx="1453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Inter"/>
              <a:buNone/>
            </a:pPr>
            <a:r>
              <a:rPr b="0" i="0" lang="ru" sz="7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следующий запуск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2180902" y="1405890"/>
            <a:ext cx="1611673" cy="384048"/>
          </a:xfrm>
          <a:prstGeom prst="roundRect">
            <a:avLst>
              <a:gd fmla="val 14286" name="adj"/>
            </a:avLst>
          </a:prstGeom>
          <a:solidFill>
            <a:srgbClr val="F22D49"/>
          </a:solidFill>
          <a:ln cap="flat" cmpd="sng" w="1270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6"/>
          <p:cNvSpPr/>
          <p:nvPr/>
        </p:nvSpPr>
        <p:spPr>
          <a:xfrm>
            <a:off x="3792575" y="1405890"/>
            <a:ext cx="3552539" cy="384048"/>
          </a:xfrm>
          <a:prstGeom prst="roundRect">
            <a:avLst>
              <a:gd fmla="val 14286" name="adj"/>
            </a:avLst>
          </a:prstGeom>
          <a:solidFill>
            <a:srgbClr val="33D17A"/>
          </a:solidFill>
          <a:ln cap="flat" cmpd="sng" w="127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6"/>
          <p:cNvSpPr/>
          <p:nvPr/>
        </p:nvSpPr>
        <p:spPr>
          <a:xfrm>
            <a:off x="7345114" y="1405890"/>
            <a:ext cx="1289338" cy="384048"/>
          </a:xfrm>
          <a:prstGeom prst="roundRect">
            <a:avLst>
              <a:gd fmla="val 14286" name="adj"/>
            </a:avLst>
          </a:prstGeom>
          <a:solidFill>
            <a:srgbClr val="9A7BFF"/>
          </a:solidFill>
          <a:ln cap="flat" cmpd="sng" w="12700">
            <a:solidFill>
              <a:srgbClr val="9A7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6"/>
          <p:cNvSpPr txBox="1"/>
          <p:nvPr/>
        </p:nvSpPr>
        <p:spPr>
          <a:xfrm>
            <a:off x="2180902" y="1481328"/>
            <a:ext cx="161167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75k • тест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Google Shape;675;p26"/>
          <p:cNvSpPr txBox="1"/>
          <p:nvPr/>
        </p:nvSpPr>
        <p:spPr>
          <a:xfrm>
            <a:off x="3792575" y="1481328"/>
            <a:ext cx="355253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F13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0C0F13"/>
                </a:solidFill>
                <a:latin typeface="Inter"/>
                <a:ea typeface="Inter"/>
                <a:cs typeface="Inter"/>
                <a:sym typeface="Inter"/>
              </a:rPr>
              <a:t>165k • </a:t>
            </a:r>
            <a:r>
              <a:rPr b="1" lang="ru" sz="800">
                <a:solidFill>
                  <a:srgbClr val="0C0F13"/>
                </a:solidFill>
                <a:latin typeface="Inter"/>
                <a:ea typeface="Inter"/>
                <a:cs typeface="Inter"/>
                <a:sym typeface="Inter"/>
              </a:rPr>
              <a:t>масштабирование лучших связок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Google Shape;676;p26"/>
          <p:cNvSpPr txBox="1"/>
          <p:nvPr/>
        </p:nvSpPr>
        <p:spPr>
          <a:xfrm>
            <a:off x="7345114" y="1481328"/>
            <a:ext cx="128933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60k • </a:t>
            </a:r>
            <a:r>
              <a:rPr b="1" lang="ru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резерв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Google Shape;677;p26"/>
          <p:cNvSpPr txBox="1"/>
          <p:nvPr/>
        </p:nvSpPr>
        <p:spPr>
          <a:xfrm>
            <a:off x="2180902" y="1871529"/>
            <a:ext cx="161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25%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Google Shape;678;p26"/>
          <p:cNvSpPr txBox="1"/>
          <p:nvPr/>
        </p:nvSpPr>
        <p:spPr>
          <a:xfrm>
            <a:off x="3792575" y="1879092"/>
            <a:ext cx="355253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55%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p26"/>
          <p:cNvSpPr txBox="1"/>
          <p:nvPr/>
        </p:nvSpPr>
        <p:spPr>
          <a:xfrm>
            <a:off x="7345114" y="1879092"/>
            <a:ext cx="128933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b="1" i="0" lang="ru" sz="600" u="none" cap="none" strike="noStrike">
                <a:solidFill>
                  <a:srgbClr val="9AA4B2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0" name="Google Shape;680;p26"/>
          <p:cNvSpPr/>
          <p:nvPr/>
        </p:nvSpPr>
        <p:spPr>
          <a:xfrm>
            <a:off x="248650" y="2103988"/>
            <a:ext cx="2825700" cy="1155000"/>
          </a:xfrm>
          <a:prstGeom prst="roundRect">
            <a:avLst>
              <a:gd fmla="val 9524" name="adj"/>
            </a:avLst>
          </a:prstGeom>
          <a:solidFill>
            <a:srgbClr val="1C222A"/>
          </a:solidFill>
          <a:ln cap="flat" cmpd="sng" w="1415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350" lIns="76350" spcFirstLastPara="1" rIns="76350" wrap="square" tIns="7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6"/>
          <p:cNvSpPr/>
          <p:nvPr/>
        </p:nvSpPr>
        <p:spPr>
          <a:xfrm>
            <a:off x="355563" y="2279940"/>
            <a:ext cx="320700" cy="461700"/>
          </a:xfrm>
          <a:prstGeom prst="roundRect">
            <a:avLst>
              <a:gd fmla="val 50000" name="adj"/>
            </a:avLst>
          </a:prstGeom>
          <a:solidFill>
            <a:srgbClr val="F22D49"/>
          </a:solidFill>
          <a:ln cap="flat" cmpd="sng" w="1415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350" lIns="76350" spcFirstLastPara="1" rIns="76350" wrap="square" tIns="7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6"/>
          <p:cNvSpPr txBox="1"/>
          <p:nvPr/>
        </p:nvSpPr>
        <p:spPr>
          <a:xfrm>
            <a:off x="355563" y="2290937"/>
            <a:ext cx="3207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1"/>
              <a:buFont typeface="Inter"/>
              <a:buNone/>
            </a:pPr>
            <a:r>
              <a:rPr b="1" i="0" lang="ru" sz="891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891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3" name="Google Shape;683;p26"/>
          <p:cNvSpPr txBox="1"/>
          <p:nvPr/>
        </p:nvSpPr>
        <p:spPr>
          <a:xfrm>
            <a:off x="767950" y="2137137"/>
            <a:ext cx="2199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91"/>
              <a:buFont typeface="Inter"/>
              <a:buNone/>
            </a:pPr>
            <a:r>
              <a:rPr b="1"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ТЕСТ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4" name="Google Shape;684;p26"/>
          <p:cNvSpPr txBox="1"/>
          <p:nvPr/>
        </p:nvSpPr>
        <p:spPr>
          <a:xfrm>
            <a:off x="767950" y="2439975"/>
            <a:ext cx="2331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5"/>
              <a:buFont typeface="Arial"/>
              <a:buNone/>
            </a:pPr>
            <a:r>
              <a:rPr lang="ru" sz="800">
                <a:solidFill>
                  <a:schemeClr val="lt2"/>
                </a:solidFill>
              </a:rPr>
              <a:t>Запустить 5–7 размещений именно для </a:t>
            </a:r>
            <a:r>
              <a:rPr b="1" lang="ru" sz="800">
                <a:solidFill>
                  <a:schemeClr val="lt2"/>
                </a:solidFill>
              </a:rPr>
              <a:t>START</a:t>
            </a:r>
            <a:endParaRPr b="1" sz="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5"/>
              <a:buFont typeface="Arial"/>
              <a:buNone/>
            </a:pPr>
            <a:r>
              <a:rPr lang="ru" sz="800">
                <a:solidFill>
                  <a:schemeClr val="lt2"/>
                </a:solidFill>
              </a:rPr>
              <a:t>• разные Telegram-каналы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5"/>
              <a:buFont typeface="Arial"/>
              <a:buNone/>
            </a:pPr>
            <a:r>
              <a:rPr lang="ru" sz="800">
                <a:solidFill>
                  <a:schemeClr val="lt2"/>
                </a:solidFill>
              </a:rPr>
              <a:t>• разные креативы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5"/>
              <a:buFont typeface="Arial"/>
              <a:buNone/>
            </a:pPr>
            <a:r>
              <a:rPr lang="ru" sz="800">
                <a:solidFill>
                  <a:schemeClr val="lt2"/>
                </a:solidFill>
              </a:rPr>
              <a:t>• отдельные tracking ID</a:t>
            </a:r>
            <a:endParaRPr sz="80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68"/>
              <a:buFont typeface="Inter"/>
              <a:buNone/>
            </a:pPr>
            <a:r>
              <a:rPr lang="ru" sz="800">
                <a:solidFill>
                  <a:schemeClr val="lt2"/>
                </a:solidFill>
              </a:rPr>
              <a:t>• отдельно Аналитика / Алгоритмы / ML / Backend START</a:t>
            </a:r>
            <a:endParaRPr sz="8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3305650" y="2104000"/>
            <a:ext cx="2239800" cy="1133400"/>
          </a:xfrm>
          <a:prstGeom prst="roundRect">
            <a:avLst>
              <a:gd fmla="val 9524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6"/>
          <p:cNvSpPr/>
          <p:nvPr/>
        </p:nvSpPr>
        <p:spPr>
          <a:xfrm>
            <a:off x="3390392" y="2276695"/>
            <a:ext cx="254100" cy="453300"/>
          </a:xfrm>
          <a:prstGeom prst="roundRect">
            <a:avLst>
              <a:gd fmla="val 50000" name="adj"/>
            </a:avLst>
          </a:prstGeom>
          <a:solidFill>
            <a:srgbClr val="55C2FF"/>
          </a:solidFill>
          <a:ln cap="flat" cmpd="sng" w="12700">
            <a:solidFill>
              <a:srgbClr val="55C2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6"/>
          <p:cNvSpPr txBox="1"/>
          <p:nvPr/>
        </p:nvSpPr>
        <p:spPr>
          <a:xfrm>
            <a:off x="3390392" y="2287488"/>
            <a:ext cx="254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Google Shape;688;p26"/>
          <p:cNvSpPr txBox="1"/>
          <p:nvPr/>
        </p:nvSpPr>
        <p:spPr>
          <a:xfrm>
            <a:off x="3737950" y="2137140"/>
            <a:ext cx="1743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ИЗМЕРЕНИЕ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9" name="Google Shape;689;p26"/>
          <p:cNvSpPr txBox="1"/>
          <p:nvPr/>
        </p:nvSpPr>
        <p:spPr>
          <a:xfrm>
            <a:off x="3717251" y="2439925"/>
            <a:ext cx="1743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chemeClr val="lt2"/>
                </a:solidFill>
              </a:rPr>
              <a:t>Для каждого размещения считать: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касание → лид → покупка</a:t>
            </a:r>
            <a:endParaRPr sz="8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600"/>
              <a:buFont typeface="Inter"/>
              <a:buNone/>
            </a:pPr>
            <a:r>
              <a:rPr lang="ru" sz="800">
                <a:solidFill>
                  <a:schemeClr val="lt2"/>
                </a:solidFill>
              </a:rPr>
              <a:t>CPL • CAC • attributed revenue • ROMI_attr</a:t>
            </a:r>
            <a:endParaRPr sz="8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26"/>
          <p:cNvSpPr/>
          <p:nvPr/>
        </p:nvSpPr>
        <p:spPr>
          <a:xfrm>
            <a:off x="5748375" y="2114788"/>
            <a:ext cx="2995800" cy="1133400"/>
          </a:xfrm>
          <a:prstGeom prst="roundRect">
            <a:avLst>
              <a:gd fmla="val 9524" name="adj"/>
            </a:avLst>
          </a:prstGeom>
          <a:solidFill>
            <a:srgbClr val="1C222A"/>
          </a:solidFill>
          <a:ln cap="flat" cmpd="sng" w="150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50" lIns="80950" spcFirstLastPara="1" rIns="80950" wrap="square" tIns="8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6"/>
          <p:cNvSpPr/>
          <p:nvPr/>
        </p:nvSpPr>
        <p:spPr>
          <a:xfrm>
            <a:off x="5861730" y="2287477"/>
            <a:ext cx="340200" cy="453600"/>
          </a:xfrm>
          <a:prstGeom prst="roundRect">
            <a:avLst>
              <a:gd fmla="val 50000" name="adj"/>
            </a:avLst>
          </a:prstGeom>
          <a:solidFill>
            <a:srgbClr val="33D17A"/>
          </a:solidFill>
          <a:ln cap="flat" cmpd="sng" w="15000">
            <a:solidFill>
              <a:srgbClr val="33D1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50" lIns="80950" spcFirstLastPara="1" rIns="80950" wrap="square" tIns="8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6"/>
          <p:cNvSpPr txBox="1"/>
          <p:nvPr/>
        </p:nvSpPr>
        <p:spPr>
          <a:xfrm>
            <a:off x="5861730" y="2298270"/>
            <a:ext cx="340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4"/>
              <a:buFont typeface="Inter"/>
              <a:buNone/>
            </a:pPr>
            <a:r>
              <a:rPr b="1" i="0" lang="ru" sz="94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44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3" name="Google Shape;693;p26"/>
          <p:cNvSpPr txBox="1"/>
          <p:nvPr/>
        </p:nvSpPr>
        <p:spPr>
          <a:xfrm>
            <a:off x="6298954" y="2169423"/>
            <a:ext cx="2331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944"/>
              <a:buFont typeface="Inter"/>
              <a:buNone/>
            </a:pPr>
            <a:r>
              <a:rPr b="1" lang="ru" sz="944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ОТБОР И МАСШТАБИРОВАНИЕ</a:t>
            </a:r>
            <a:endParaRPr b="0" i="0" sz="944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4" name="Google Shape;694;p26"/>
          <p:cNvSpPr txBox="1"/>
          <p:nvPr/>
        </p:nvSpPr>
        <p:spPr>
          <a:xfrm>
            <a:off x="6298950" y="2450688"/>
            <a:ext cx="2331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</a:pPr>
            <a:r>
              <a:rPr lang="ru" sz="800">
                <a:solidFill>
                  <a:schemeClr val="lt2"/>
                </a:solidFill>
              </a:rPr>
              <a:t>Не распределять 165 тыс. заранее.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</a:pPr>
            <a:r>
              <a:rPr lang="ru" sz="800">
                <a:solidFill>
                  <a:schemeClr val="lt2"/>
                </a:solidFill>
              </a:rPr>
              <a:t>Увеличивать бюджет только на связки</a:t>
            </a:r>
            <a:endParaRPr sz="80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8"/>
              <a:buFont typeface="Inter"/>
              <a:buNone/>
            </a:pPr>
            <a:r>
              <a:rPr b="1" lang="ru" sz="800">
                <a:solidFill>
                  <a:schemeClr val="lt2"/>
                </a:solidFill>
              </a:rPr>
              <a:t>канал × креатив × START-продукт</a:t>
            </a:r>
            <a:r>
              <a:rPr lang="ru" sz="800">
                <a:solidFill>
                  <a:schemeClr val="lt2"/>
                </a:solidFill>
              </a:rPr>
              <a:t>, которые показывают лучший результат.</a:t>
            </a:r>
            <a:endParaRPr sz="8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5" name="Google Shape;695;p26"/>
          <p:cNvSpPr/>
          <p:nvPr/>
        </p:nvSpPr>
        <p:spPr>
          <a:xfrm>
            <a:off x="248648" y="3333000"/>
            <a:ext cx="4174800" cy="720000"/>
          </a:xfrm>
          <a:prstGeom prst="roundRect">
            <a:avLst>
              <a:gd fmla="val 9524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6"/>
          <p:cNvSpPr/>
          <p:nvPr/>
        </p:nvSpPr>
        <p:spPr>
          <a:xfrm>
            <a:off x="406616" y="3442726"/>
            <a:ext cx="474000" cy="288000"/>
          </a:xfrm>
          <a:prstGeom prst="roundRect">
            <a:avLst>
              <a:gd fmla="val 50000" name="adj"/>
            </a:avLst>
          </a:prstGeom>
          <a:solidFill>
            <a:srgbClr val="9A7BFF"/>
          </a:solidFill>
          <a:ln cap="flat" cmpd="sng" w="12700">
            <a:solidFill>
              <a:srgbClr val="9A7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6"/>
          <p:cNvSpPr txBox="1"/>
          <p:nvPr/>
        </p:nvSpPr>
        <p:spPr>
          <a:xfrm>
            <a:off x="406616" y="3449584"/>
            <a:ext cx="47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8" name="Google Shape;698;p26"/>
          <p:cNvSpPr txBox="1"/>
          <p:nvPr/>
        </p:nvSpPr>
        <p:spPr>
          <a:xfrm>
            <a:off x="1015922" y="3354264"/>
            <a:ext cx="324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ЭКСПЕРИМЕНТ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9" name="Google Shape;699;p26"/>
          <p:cNvSpPr txBox="1"/>
          <p:nvPr/>
        </p:nvSpPr>
        <p:spPr>
          <a:xfrm>
            <a:off x="1015925" y="3592625"/>
            <a:ext cx="3249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8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8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Где возможно — holdout / A/B-тест.</a:t>
            </a:r>
            <a:br>
              <a:rPr lang="ru" sz="8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 sz="8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Проверяем, действительно ли реклама создаёт дополнительные продажи, а не просто совпадает с ростом.</a:t>
            </a:r>
            <a:endParaRPr sz="8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9AA4B2"/>
              </a:buClr>
              <a:buSzPts val="240"/>
              <a:buFont typeface="Inter"/>
              <a:buNone/>
            </a:pPr>
            <a:r>
              <a:t/>
            </a:r>
            <a:endParaRPr sz="8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0" name="Google Shape;700;p26"/>
          <p:cNvSpPr/>
          <p:nvPr/>
        </p:nvSpPr>
        <p:spPr>
          <a:xfrm>
            <a:off x="4711577" y="3333000"/>
            <a:ext cx="4032600" cy="720000"/>
          </a:xfrm>
          <a:prstGeom prst="roundRect">
            <a:avLst>
              <a:gd fmla="val 9524" name="adj"/>
            </a:avLst>
          </a:prstGeom>
          <a:solidFill>
            <a:srgbClr val="1C222A"/>
          </a:solidFill>
          <a:ln cap="flat" cmpd="sng" w="1270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6"/>
          <p:cNvSpPr/>
          <p:nvPr/>
        </p:nvSpPr>
        <p:spPr>
          <a:xfrm>
            <a:off x="4864162" y="3442726"/>
            <a:ext cx="457800" cy="288000"/>
          </a:xfrm>
          <a:prstGeom prst="roundRect">
            <a:avLst>
              <a:gd fmla="val 50000" name="adj"/>
            </a:avLst>
          </a:prstGeom>
          <a:solidFill>
            <a:srgbClr val="F4C95D"/>
          </a:solidFill>
          <a:ln cap="flat" cmpd="sng" w="12700">
            <a:solidFill>
              <a:srgbClr val="F4C9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6"/>
          <p:cNvSpPr txBox="1"/>
          <p:nvPr/>
        </p:nvSpPr>
        <p:spPr>
          <a:xfrm>
            <a:off x="4864162" y="3449584"/>
            <a:ext cx="45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ru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3" name="Google Shape;703;p26"/>
          <p:cNvSpPr txBox="1"/>
          <p:nvPr/>
        </p:nvSpPr>
        <p:spPr>
          <a:xfrm>
            <a:off x="5452700" y="3339924"/>
            <a:ext cx="3138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800"/>
              <a:buFont typeface="Inter"/>
              <a:buNone/>
            </a:pPr>
            <a:r>
              <a:rPr b="1" lang="ru" sz="900">
                <a:solidFill>
                  <a:srgbClr val="F7F8FA"/>
                </a:solidFill>
                <a:latin typeface="Inter"/>
                <a:ea typeface="Inter"/>
                <a:cs typeface="Inter"/>
                <a:sym typeface="Inter"/>
              </a:rPr>
              <a:t>ОБНОВЛЕНИЕ БЮДЖЕТА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4" name="Google Shape;704;p26"/>
          <p:cNvSpPr txBox="1"/>
          <p:nvPr/>
        </p:nvSpPr>
        <p:spPr>
          <a:xfrm>
            <a:off x="5452700" y="3655327"/>
            <a:ext cx="3138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ru" sz="1200">
                <a:solidFill>
                  <a:schemeClr val="lt2"/>
                </a:solidFill>
              </a:rPr>
              <a:t>60 тыс. резерва перераспределять после первых результатов: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ru" sz="1200">
                <a:solidFill>
                  <a:schemeClr val="lt2"/>
                </a:solidFill>
              </a:rPr>
              <a:t>→ в победителей, если эффект подтверждается;</a:t>
            </a:r>
            <a:endParaRPr sz="120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ct val="50000"/>
              <a:buFont typeface="Inter"/>
              <a:buNone/>
            </a:pPr>
            <a:r>
              <a:rPr lang="ru" sz="1200">
                <a:solidFill>
                  <a:schemeClr val="lt2"/>
                </a:solidFill>
              </a:rPr>
              <a:t>→ в новые тесты, если текущие связки не проходят порог.</a:t>
            </a:r>
            <a:endParaRPr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5" name="Google Shape;705;p26"/>
          <p:cNvSpPr/>
          <p:nvPr/>
        </p:nvSpPr>
        <p:spPr>
          <a:xfrm>
            <a:off x="288375" y="4226025"/>
            <a:ext cx="8455800" cy="595200"/>
          </a:xfrm>
          <a:prstGeom prst="roundRect">
            <a:avLst>
              <a:gd fmla="val 15517" name="adj"/>
            </a:avLst>
          </a:prstGeom>
          <a:solidFill>
            <a:srgbClr val="11161B"/>
          </a:solidFill>
          <a:ln cap="flat" cmpd="sng" w="12250">
            <a:solidFill>
              <a:srgbClr val="2A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200" lIns="66200" spcFirstLastPara="1" rIns="66200" wrap="square" tIns="6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6"/>
          <p:cNvSpPr/>
          <p:nvPr/>
        </p:nvSpPr>
        <p:spPr>
          <a:xfrm>
            <a:off x="288375" y="4226025"/>
            <a:ext cx="38100" cy="595200"/>
          </a:xfrm>
          <a:prstGeom prst="roundRect">
            <a:avLst>
              <a:gd fmla="val 40000" name="adj"/>
            </a:avLst>
          </a:prstGeom>
          <a:solidFill>
            <a:srgbClr val="F22D49"/>
          </a:solidFill>
          <a:ln cap="flat" cmpd="sng" w="12250">
            <a:solidFill>
              <a:srgbClr val="F22D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200" lIns="66200" spcFirstLastPara="1" rIns="66200" wrap="square" tIns="6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6"/>
          <p:cNvSpPr txBox="1"/>
          <p:nvPr/>
        </p:nvSpPr>
        <p:spPr>
          <a:xfrm>
            <a:off x="410704" y="4308122"/>
            <a:ext cx="824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A"/>
              </a:buClr>
              <a:buSzPts val="772"/>
              <a:buFont typeface="Inter"/>
              <a:buNone/>
            </a:pPr>
            <a:r>
              <a:rPr lang="ru" sz="1159">
                <a:solidFill>
                  <a:srgbClr val="F22D49"/>
                </a:solidFill>
              </a:rPr>
              <a:t>START</a:t>
            </a:r>
            <a:r>
              <a:rPr lang="ru" sz="1159">
                <a:solidFill>
                  <a:schemeClr val="lt1"/>
                </a:solidFill>
              </a:rPr>
              <a:t> — наша первая гипотеза для масштабирования, а не “назначенный победитель”. История показывает более сильный отклик этой линейки, а measurement system позволит проверить его уже на реальных связках и ROMI.</a:t>
            </a:r>
            <a:endParaRPr b="0" i="0" sz="772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